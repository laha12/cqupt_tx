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9" r:id="rId21"/>
    <p:sldId id="280" r:id="rId22"/>
    <p:sldId id="281" r:id="rId23"/>
    <p:sldId id="284" r:id="rId24"/>
    <p:sldId id="285" r:id="rId25"/>
    <p:sldId id="286" r:id="rId26"/>
    <p:sldId id="292" r:id="rId27"/>
    <p:sldId id="294" r:id="rId28"/>
    <p:sldId id="295" r:id="rId29"/>
    <p:sldId id="297" r:id="rId30"/>
    <p:sldId id="29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7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29E81A5-6765-57F8-8271-6D7B082864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2F39FD-224A-47A9-FA2A-8C45E45E96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756C1-B627-4705-91CE-26FBA20D8B66}" type="datetimeFigureOut">
              <a:rPr lang="zh-CN" altLang="en-US" smtClean="0"/>
              <a:t>2024-11-12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8DD7A1-874F-8EB0-8FF3-437BF9517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A4B28-7F41-AA97-ED4B-45B3F99CEA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33C96-4330-4597-8F99-7572A603D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453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12.11.2024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大家好！我今天要介绍的主题是：The Future Research Direction and Development of IRS Technology
</a:t>
            </a:r>
            <a:endParaRPr lang="en-US"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我们今天主要从以下几个方面展开介绍：
Introduction to IRS Technology
Current Status and Trends in IRS Technology
Technical Foundations for Future IRS Development
Potential Applications of Future IRS Developments
</a:t>
            </a:r>
            <a:endParaRPr lang="en-US"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我们今天主要从以下几个方面展开介绍：
Case Studies on IRS Technology Applications
Research Directions in Future IRS Technology Development
Conclusion &amp; Recommendations
</a:t>
            </a:r>
            <a:endParaRPr lang="en-US"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下面介绍IntroductiontoIRSTechnology。
</a:t>
            </a:r>
            <a:endParaRPr lang="en-US"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想象一下，有一种材料，它能像魔法师一样，随意改变电磁波，比如无线电波的方向，而且还不需要复杂的电路或大天线，是不是很神奇？这就是IRS技术。
近年来，IRS技术可是受到了广泛关注。为什么呢？因为它能以低成本、高效能的方式，通过操控电磁波，来优化我们的无线通信系统。这对于提升通信效率、降低成本可是个大好事。
那么，IRS技术到底是由什么组成的呢？简单来说，它包括了大量的被动反射单元、一个控制器，以及一个通信系统。这些组件协同工作，就能让IRS技术发挥出它的魔力。
这就是IRS技术的基本概念和背景，希望这个简短的介绍能让大家对这个新兴技术有个初步的了解。
</a:t>
            </a:r>
            <a:endParaRPr lang="en-US"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你们知道吗，IRS技术在各个领域都有着广泛的应用前景。
在无线通信领域，IRS技术能够大幅提升5G及未来通信网络的覆盖范围和容量，让我们的通信更加畅通无阻。
雷达系统方面，IRS技术可以强化雷达的性能，它通过优化信号的指向性和聚焦性，让雷达探测更加精准。
再来说说智能家居，IRS技术能够与智能家居系统完美融合，提升无线设备如路由器、智能音箱等的效率和性能，让我们的生活更加便捷。
此外，在安全领域，IRS技术也有着独到的应用。它可以通过操控无线电信号的反射，构建物理屏障或干扰非法信号，为我们的安全保驾护航。
综上所述，IRS技术无疑具有广阔的发展前景和巨大的应用潜力。让我们共同期待它在未来创造更多的奇迹吧！
</a:t>
            </a:r>
            <a:endParaRPr lang="en-US"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随着无线通信系统的不断演进，需求日新月异，但IRS技术却能够轻松应对这些变化，灵活调整，满足各种新需求。这对于广大研究者和整个行业来说，无疑是一项值得投入和期待的宝贵技术。
</a:t>
            </a:r>
            <a:endParaRPr lang="en-US"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下面介绍CurrentStatusandTrendsinIRSTechnology。
</a:t>
            </a:r>
            <a:endParaRPr lang="en-US"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首先，让我们快速回顾一下现有的IRS系统。
想象一下，有一种天线，它利用大量的无源元件，就像一面巨大的镜子，把信号反射到特定的方向，这就是我们的反射阵列天线。而发射阵列天线呢，它跟反射阵列天线有点像，但不同的是，它用的是有源元件，可以对信号进行再传输，并通过控制相位偏移来调整信号的路径。
再来说说大型智能表面，简称LIS。LIS也是由许多小小的无源元件组成的，这些元件能以受控的方式反射信号。这就好像给信号安装了一个智能导航系统，让它们能够按照我们的意愿去到指定的地方。
以上，就是IRS技术的几种基本形式。未来，随着技术的不断进步，我们期待着IRS技术在通信、雷达、物联网等领域发挥更大的作用，为我们的生活带来更多便利和创新。
</a:t>
            </a:r>
            <a:endParaRPr lang="en-US"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在IRS技术的发展道路上，有几个关键挑战需要我们去克服。
首先，是波束成形技术。大家可以把波束成形想象成一个智能的信号导向过程，它利用IRS元素的反射，将信号精确地导向特定方向，这听起来是不是挺酷的？
再来，是信道估计。信道估计，简单来说，就是估算发射器、IRS和接收器之间的信道状态信息，也就是CSI。这一步对于确保信号传输的准确性和稳定性至关重要。
最后，还有部署和成本问题。IRS系统的部署需要大量的被动元素，这不仅增加了系统的复杂性，还推高了成本。这可是我们不得不面对的现实挑战。
总的来说，IRS技术的未来充满了机遇和挑战。只有克服这些关键难题，我们才能推动IRS技术迈向更加辉煌的明天。
</a:t>
            </a:r>
            <a:endParaRPr lang="en-US"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首先，IRS技术有望大幅提升频谱效率，这意味着在相同的频段内，可以让更多的设备同时进行通信，不再受限于频谱资源。其次，IRS技术还能帮助我们改善无线网络的覆盖范围，特别是在信号弱或存在遮挡物的区域，它能增强信号，让我们享受到更可靠的连接。最后，IRS技术还有一个巨大的优势，那就是它的能耗更低。相比传统的通信系统，IRS技术能消耗更少的电力，从而减少无线网络的碳排放，为环保事业贡献一份力量。这就是IRS技术的未来趋势和机遇，让我们一起期待它在通信领域的广泛应用吧！
</a:t>
            </a:r>
            <a:endParaRPr lang="en-US"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下面介绍TechnicalFoundationsforFutureIRSDevelopment。
</a:t>
            </a:r>
            <a:endParaRPr lang="en-US"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首先，我们要关注的是通信协议与标准这一领域。
想象一下，为了让IRS技术更好地服务于我们，我们需要设计出专门的MAC协议，这些协议得充分考虑到IRS那些独一无二的特性和限制，确保它们能在各种环境中高效运行。
接下来，我们还要构建新的网络架构，让这些架构能巧妙地把IRS融入到现有的通信系统中，实现无缝对接，让我们的通信网络更加智能、更加高效。
当然，标准化和互操作性也是我们不能忽视的问题。我们要制定一系列的标准和协议，确保不同的IRS设备和系统之间能够畅通无阻地交流、协作，共同构建一个更加开放、包容的IRS生态。
最后，安全和隐私保护始终是我们最关心的议题。在IRS辅助的通信网络中，我们要开发强大的安全机制，严密守护数据的安全和用户的隐私，让大家都能安心地享受IRS技术带来的便利。
这就是IRS技术在通信协议与标准方面的一些未来研究方向，期待着我们共同努力，推动IRS技术迈向更加辉煌的明天！
</a:t>
            </a:r>
            <a:endParaRPr lang="en-US"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在IRS技术的优化上，机器学习算法可是个热门话题。比如说强化学习，它能通过优化IRS的反射系数，来提升网络性能，让网络更加高效稳定。
再来看看深度学习，这可是解决IRS辅助通信网络里复杂优化问题的利器。深度学习能帮我们找到更优的解决方案，提高通信效率。
还有无监督学习，它能发现最优的IRS配置，还能适应不断变化的环境，让我们的IRS系统更加智能、灵活。
最后，我们不得不提联邦学习。它能利用来自多个设备的数据，训练IRS优化模型，保护用户隐私的同时，提升模型的准确性和泛化能力。
这些机器学习算法，都在推动着IRS技术的不断发展和进步。未来，我们可以期待IRS技术在更多领域的应用，为我们的生活带来更多便利和惊喜。
</a:t>
            </a:r>
            <a:endParaRPr lang="en-US"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首先，我们要讲的是IRS辅助定位技术。想象一下，在室内定位系统中，我们利用IRS反射的信号，可以大大提高定位的准确性和可靠性，这将为我们的日常生活和工业生产带来极大的便利。
接下来，是IRS基的环境感知技术。通过IRS，我们可以开发出一系列传感技术，来监测和分析我们周围的物理环境，比如温度、湿度和空气质量，这将让我们更好地了解并保护我们所处的环境。
再来看看IRS辅助的物体检测技术。有了IRS，我们可以在给定的空间内检测和追踪物体，这将为安全和监控领域带来新的应用，让我们更安全地生活和工作。
最后，我们要介绍的是IRS基的手势识别技术。想象一下，我们可以通过机器学习算法处理IRS反射的信号，从而识别出用户的手势和互动，这将为我们的人机交互方式带来革命性的变化。
以上，就是IRS技术在未来可能的发展方向和研究重点，让我们一起期待这个领域的更多创新和突破吧！
</a:t>
            </a:r>
            <a:endParaRPr lang="en-US"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下面介绍PotentialApplicationsofFutureIRSDevelopments。
</a:t>
            </a:r>
            <a:endParaRPr lang="en-US" sz="11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首先，我们要讲的是IRS如何助力增强无线通信网络。想象一下，在那些信号微弱的地方，IRS就像是个信号魔法师，它能绕开障碍物反射信号，扩大覆盖范围，提升容量，让信号覆盖无死角。
再来，IRS还让我们的通信变得更可靠。它就像给信号建了个高速公路，提供了多条备选路径，让信号到达目的地时更安全，降低了信号丢失或中断的风险。
还有，IRS技术能有效减少干扰。它就像是智能的信号调节器，能把信号精准地指向特定方向，削弱其他来源的干扰，让信号质量更上一层楼。
最后，但同样重要的是，IRS能降低无线网络的能耗。传统的信号传输方式需要大量能量，但IRS却巧妙地通过反射信号来实现通信，就像把路灯的光引导到需要的地方，大大节省了能源。
总的来说，IRS技术在无线通信网络上的应用前景广阔，它不仅能改善信号覆盖、提升可靠性、减少干扰，还能节能减排，让我们共同期待IRS技术为未来的通信世界带来更多惊喜吧！
</a:t>
            </a:r>
            <a:endParaRPr lang="en-US" sz="11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 dirty="0"/>
              <a:t>
首先，IRS技术能够反射信号，从而大幅提升雷达系统的探测能力。这意味着我们的雷达将变得更加灵敏和精确，无论是军事还是执法领域，都能因此受益。
其次，IRS技术还能提供关于物体位置和运动的额外信息，从而增强我们对周围环境的感知能力。想象一下，在复杂的战场或执法行动中，这样的技术将为我们带来多大的优势！
</a:t>
            </a:r>
            <a:r>
              <a:rPr lang="en-US" sz="900" dirty="0" err="1"/>
              <a:t>最后，但同样重要的是，IRS技术还具有隐蔽监控的潜力。它可以以难以被察觉的方式反射信号，使得我们的监控行动更加隐秘和安全</a:t>
            </a:r>
            <a:r>
              <a:rPr lang="en-US" sz="900" dirty="0"/>
              <a:t>。
总的来说，IRS技术在改进雷达系统和监控技术方面有着巨大的潜力，它将为我们带来更加先进、更加安全的未来。让我们共同期待这项技术在未来能够绽放出更加璀璨的光芒！
</a:t>
            </a:r>
            <a:endParaRPr lang="en-US" sz="11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在改进雷达系统和监控技术方面，一个非常重要的方向就是高级追踪技术。想象一下，IRS能够精准地追踪物体和人的移动，为安全监控提供宝贵的信息。无论是在人流密集的公共场所，还是在需要高度安全监控的特定区域，这种技术都能发挥巨大的作用，让我们的安全得到更有效的保障。
</a:t>
            </a:r>
            <a:endParaRPr lang="en-US" sz="11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下面介绍CaseStudiesonIRSTechnologyApplications。
</a:t>
            </a:r>
            <a:endParaRPr lang="en-US" sz="11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 dirty="0"/>
              <a:t>
想象一下，如果我们能利用IRS，也就是智能反射表面，来提升发射器和接收器之间的无线能量传输效率，那会是多么令人兴奋的事情！这就是IRS辅助WPT系统设计的魅力所在。
进一步说，我们还要设计一种“波束成形”策略，让传输的能量能够像手电筒的光束一样，精准地聚焦到接收器上，这样一来，能量损失就能大大减少。
当然，仅有波束成形还不够，我们还得优化功率分配，也就是要找到IRS反射和直接传输之间的最佳平衡点，这样才能确保能量传输达到最大效率。
最后，别忘了实验验证这一步。我们得在实际环境中演示IRS辅助WPT的可行性，还要测量它的性能提升情况。只有这样，我们才能确信，IRS技术真的能为无线能量传输的未来开辟出一片新天地！
</a:t>
            </a:r>
            <a:endParaRPr lang="en-US" sz="11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想象一下，在你的家中，所有的智能设备都能通过IRS技术实现更高效、更流畅的通信。这就是IRS增强通信的魅力所在，它能够大幅提升家庭自动化系统中智能设备间的通信性能。
为了实现这一点，我们需要精心设计信号处理算法，让IRS的反射效果达到最优，从而进一步提升通信质量。这就像给智能设备之间的“对话”加上了一个高效的“翻译器”，让它们能够更清晰地交流。
当然，在多个智能设备同时“发言”时，如何避免它们之间的“争吵”呢？这就需要我们开发高效的设备调度算法，来管理这些设备之间的通信，确保它们能够和谐共处，互不干扰。
最后，我们要将IRS技术与现有的智能家居自动化系统进行深度融合，让它们携手共进，共同提升家庭自动化系统的功能和性能。这就像给你的智能家居系统安装了一个强大的“升级包”，让它的表现更加出色。
总之，IRS技术在智能家居自动化系统中的应用前景广阔，它不仅能够提升设备间的通信效率，还能为我们的生活带来更多便利和惊喜。
</a:t>
            </a:r>
            <a:endParaRPr lang="en-US" sz="11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从那些案例研究中，我们学到了很多宝贵的经验。那么，关于未来的研究，我们应该往哪些方向努力呢？首先，我们需要深入探索，找出那些可以进一步提升IRS系统效率和准确性的领域。其次，开拓新的应用领域也是必不可少的，这样才能让IRS技术惠及更多行业、更多人群。当然，随着技术的发展，潜在的安全和隐私问题也日益凸显，因此，如何解决这些问题，保障用户的数据安全和个人隐私，也将是我们未来研究的重要方向。让我们携手共进，推动IRS技术迈向更加辉煌的未来！
</a:t>
            </a:r>
            <a:endParaRPr lang="en-US" sz="11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下面介绍ResearchDirectionsinFutureIRSTechnologyDevelopment。
</a:t>
            </a:r>
            <a:endParaRPr lang="en-US" sz="11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说到IRS技术，一个非常重要的方向就是新型信号处理技术。这里面有几个关键词，我给大家简单介绍一下。
首先是波束成形和波束整形，听起来有点专业，但其实它的原理很简单，就是通过优化IRS的反射系数，让信号能够更精准地聚焦到我们想要接收的设备上，就像我们用手电筒照亮某个特定区域一样。
接下来是信号增强技术，这个技术主要是为了提升IRS反射信号的质量。它可以通过降噪和干扰消除等手段，让信号变得更清晰、更稳定，就像我们在嘈杂的环境中戴上降噪耳机一样。
再来说说MIMO通信，这可是个热门话题。通过利用多个IRS元素来创建MIMO信道，我们可以大幅度提高数据的吞吐量和可靠性，就像我们同时用多条路运输货物，效率自然就上去了。
最后，我们还要关注信道估计和跟踪技术。这个技术就像是给IRS反射信号安装了一个导航系统，能够准确地估计和跟踪信号的变化，并实时调整反射系数，确保信号的稳定传输。
以上就是我为大家介绍的IRS技术的一些新型信号处理技术，希望这些讲解能让大家对IRS技术的未来有更深入的了解和期待。
</a:t>
            </a:r>
            <a:endParaRPr lang="en-US" sz="11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首先，一个显著的问题就是信号干扰。IRS在运作时，可能会与其他信号产生干扰，这样一来，信号的质量和性能就会大打折扣。再来说说部署的复杂性，IRS技术需要在特定位置安置大量的反射元件，这个过程不仅复杂，而且成本高昂。另外，我们还得注意到标准化缺失的问题。目前，IRS通信还没有一个标准的协议，这就导致了兼容性和互操作性方面的种种麻烦。最后，还有一个范围受限的问题。IRS的通信范围受限于反射元件的大小和数量，因此，要实现远距离通信就相当困难了。这些都是我们未来需要攻克的技术难关。
</a:t>
            </a:r>
            <a:endParaRPr lang="en-US" sz="11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 dirty="0"/>
              <a:t>想象一下，如果我们能将IRS技术与其它前沿科技融合起来，比如大规模MIMO技术、毫米波技术以及5G技术，那会是怎样的情景呢？没错，这将大幅提升无线网络的整体性能，让我们的通信网络更加高效、更加智能。所以啊，我强烈建议，我们要积极探索IRS与其它技术的融合之道，让科技的力量真正造福人类。
</a:t>
            </a:r>
            <a:endParaRPr lang="en-US" sz="11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 dirty="0"/>
              <a:t>
想象一下，在那些信号覆盖不佳的偏远乡村，IRS技术将有望改善那里的通信状况，让沟通无界限。不仅如此，IRS还能大幅提升无线网络的容量，这意味着更多设备可以同时在线，告别网络拥堵。
</a:t>
            </a:r>
            <a:r>
              <a:rPr lang="en-US" sz="900" dirty="0" err="1"/>
              <a:t>说到节能，IRS也是一把好手。它能有效减少能源消耗，无论是我们普通用户还是服务提供商，都能享受到更低的电费账单</a:t>
            </a:r>
            <a:r>
              <a:rPr lang="en-US" sz="900" dirty="0"/>
              <a:t>。
更令人兴奋的是，IRS技术的发展将催生一系列新兴商业机会。在智慧城市、物联网、自动驾驶汽车等领域，IRS都将成为推动创新的关键力量，开启全新的商业蓝海。
</a:t>
            </a:r>
            <a:r>
              <a:rPr lang="en-US" sz="900" dirty="0" err="1"/>
              <a:t>所以，让我们一起期待IRS技术为我们带来的美好未来吧</a:t>
            </a:r>
            <a:r>
              <a:rPr lang="en-US" sz="900" dirty="0"/>
              <a:t>！
</a:t>
            </a:r>
            <a:endParaRPr lang="en-US" sz="11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r>
              <a:rPr lang="en-US" sz="900"/>
              <a:t>今天的分享就到这里，谢谢大家！
</a:t>
            </a:r>
            <a:endParaRPr lang="en-US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826C8-DD8A-4F14-AF2B-C9004CB2023D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9AAE-3F25-4892-B5AD-B27EB54DE07B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D46C-9AFC-47A3-8E85-00B5CC7CEF8F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E61F3-01C5-4429-B824-07D52BBE221E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201E8-0E5E-4A18-B306-56699B587C17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8165-39A3-4AF9-AEEB-5844A9A7E520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E0A8-B753-453D-9C11-9E776EFF2C1F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2133600" cy="365125"/>
          </a:xfrm>
        </p:spPr>
        <p:txBody>
          <a:bodyPr/>
          <a:lstStyle>
            <a:lvl1pPr>
              <a:defRPr sz="1600" b="1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1A59-C7AA-4EFA-B7B4-B6001C0EDC87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25C91-4E2D-4F6A-8787-BD1E81284001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D52FE-8851-4AA5-8C48-ED41C5D633FD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66F20-7431-44EF-8D04-D0A9461750FB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047B4-A206-4336-A80E-4C3F3D40F39D}" type="datetime1">
              <a:rPr lang="en-US" altLang="zh-CN" smtClean="0"/>
              <a:t>11/12/2024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1600" y="4572000"/>
            <a:ext cx="4355594" cy="106917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2000" dirty="0" err="1">
                <a:latin typeface="Microsoft Yahei"/>
                <a:ea typeface="Microsoft Yahei"/>
                <a:cs typeface="Microsoft Yahei"/>
              </a:rPr>
              <a:t>汇报人</a:t>
            </a:r>
            <a:r>
              <a:rPr lang="en-US" sz="2000" dirty="0"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2000" dirty="0">
                <a:latin typeface="Microsoft Yahei"/>
                <a:ea typeface="Microsoft Yahei"/>
                <a:cs typeface="Microsoft Yahei"/>
              </a:rPr>
              <a:t>窦翔宇、邹鸿稞、林翔</a:t>
            </a:r>
            <a:endParaRPr lang="en-US" altLang="zh-CN" sz="2000" dirty="0"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2000" dirty="0">
                <a:latin typeface="Microsoft Yahei"/>
                <a:ea typeface="Microsoft Yahei"/>
                <a:cs typeface="Microsoft Yahei"/>
              </a:rPr>
              <a:t>PPT</a:t>
            </a:r>
            <a:r>
              <a:rPr lang="zh-CN" altLang="en-US" sz="2000" dirty="0">
                <a:latin typeface="Microsoft Yahei"/>
                <a:ea typeface="Microsoft Yahei"/>
                <a:cs typeface="Microsoft Yahei"/>
              </a:rPr>
              <a:t>制作：戴明伯、雷宇航</a:t>
            </a:r>
            <a:endParaRPr lang="en-US"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00600" y="5429250"/>
            <a:ext cx="2831593" cy="91677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1950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2024-11-13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3400" y="1428750"/>
            <a:ext cx="7923053" cy="20002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525" b="1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The Future Development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525" b="1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of IRS Technology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E56914-0475-6024-64F7-F3C7E2FF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4858" y="364824"/>
            <a:ext cx="2792730" cy="10058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400" b="1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lang="en-US" sz="5400" b="1" dirty="0">
              <a:solidFill>
                <a:schemeClr val="dk1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28470" y="1110632"/>
            <a:ext cx="2792730" cy="50101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lt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1478" y="1690367"/>
            <a:ext cx="6414721" cy="4253602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L="203200" lvl="0" indent="-203200" algn="l">
              <a:lnSpc>
                <a:spcPct val="12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8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Introduction to IRS Technology</a:t>
            </a:r>
          </a:p>
          <a:p>
            <a:pPr marL="203200" lvl="0" indent="-203200" algn="l">
              <a:lnSpc>
                <a:spcPct val="12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8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Current Status and Trends in IRS Technology</a:t>
            </a:r>
          </a:p>
          <a:p>
            <a:pPr marL="203200" lvl="0" indent="-203200" algn="l">
              <a:lnSpc>
                <a:spcPct val="12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8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Technical Foundations for Future IRS Development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63CAFB-1353-4037-5F36-A50BB83A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44858" y="364824"/>
            <a:ext cx="2792730" cy="10058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400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8470" y="1110632"/>
            <a:ext cx="2792730" cy="50101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lt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1479" y="1690367"/>
            <a:ext cx="5811370" cy="4253602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L="203200" indent="-203200">
              <a:lnSpc>
                <a:spcPct val="120000"/>
              </a:lnSpc>
              <a:spcBef>
                <a:spcPts val="375"/>
              </a:spcBef>
              <a:buFont typeface="Arial"/>
              <a:buChar char="•"/>
            </a:pPr>
            <a:r>
              <a:rPr lang="en-US" altLang="zh-CN" sz="28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Potential Applications of Future IRS Developments</a:t>
            </a:r>
          </a:p>
          <a:p>
            <a:pPr marL="203200" lvl="0" indent="-203200" algn="l">
              <a:lnSpc>
                <a:spcPct val="12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8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Case Studies on IRS Technology Applications</a:t>
            </a:r>
          </a:p>
          <a:p>
            <a:pPr marL="203200" lvl="0" indent="-203200" algn="l">
              <a:lnSpc>
                <a:spcPct val="12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8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Research Directions in Future IRS Technology Development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85E021-35C6-87A1-38D6-21E173F6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462858"/>
            <a:ext cx="233394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96198" y="2019814"/>
            <a:ext cx="6164285" cy="19964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4275" b="1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Introduction to IRS Technology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47A0CA-4896-DA8D-A8CB-7518F9CD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 6"/>
          <p:cNvCxnSpPr/>
          <p:nvPr/>
        </p:nvCxnSpPr>
        <p:spPr>
          <a:xfrm>
            <a:off x="8168272" y="2027330"/>
            <a:ext cx="10894" cy="4074239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or 7"/>
          <p:cNvCxnSpPr/>
          <p:nvPr/>
        </p:nvCxnSpPr>
        <p:spPr>
          <a:xfrm flipH="1">
            <a:off x="8168272" y="6101568"/>
            <a:ext cx="3028272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Definition &amp; Background of IRS Technology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C4BC32-6837-64A7-E5B9-BF874DE798FD}"/>
              </a:ext>
            </a:extLst>
          </p:cNvPr>
          <p:cNvGrpSpPr/>
          <p:nvPr/>
        </p:nvGrpSpPr>
        <p:grpSpPr>
          <a:xfrm>
            <a:off x="851612" y="2027330"/>
            <a:ext cx="3562557" cy="4074239"/>
            <a:chOff x="851612" y="2027330"/>
            <a:chExt cx="3562557" cy="4074239"/>
          </a:xfrm>
        </p:grpSpPr>
        <p:cxnSp>
          <p:nvCxnSpPr>
            <p:cNvPr id="2" name="Connector 2"/>
            <p:cNvCxnSpPr/>
            <p:nvPr/>
          </p:nvCxnSpPr>
          <p:spPr>
            <a:xfrm>
              <a:off x="851612" y="2027330"/>
              <a:ext cx="10894" cy="4074239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" name="Connector 3"/>
            <p:cNvCxnSpPr/>
            <p:nvPr/>
          </p:nvCxnSpPr>
          <p:spPr>
            <a:xfrm flipH="1">
              <a:off x="851612" y="6101568"/>
              <a:ext cx="3028272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" name="Connector 4"/>
            <p:cNvCxnSpPr/>
            <p:nvPr/>
          </p:nvCxnSpPr>
          <p:spPr>
            <a:xfrm>
              <a:off x="4403275" y="2027330"/>
              <a:ext cx="10894" cy="4074239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TextBox 9"/>
            <p:cNvSpPr txBox="1"/>
            <p:nvPr/>
          </p:nvSpPr>
          <p:spPr>
            <a:xfrm>
              <a:off x="896485" y="2041066"/>
              <a:ext cx="3024645" cy="579431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b" anchorCtr="0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400" b="1" dirty="0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Definition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7670" y="2668123"/>
              <a:ext cx="3445541" cy="3130671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dirty="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 IRS (Intelligent Reflecting Surfaces) technology is a type of meta-surface that can change the direction of electromagnetic waves, such as radio waves, without the need for complex circuitry or large antennas.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786C37E-8F64-DF14-0739-2296C8976F60}"/>
              </a:ext>
            </a:extLst>
          </p:cNvPr>
          <p:cNvGrpSpPr/>
          <p:nvPr/>
        </p:nvGrpSpPr>
        <p:grpSpPr>
          <a:xfrm>
            <a:off x="4403275" y="2041066"/>
            <a:ext cx="3696330" cy="4060502"/>
            <a:chOff x="4403275" y="2041066"/>
            <a:chExt cx="3696330" cy="4060502"/>
          </a:xfrm>
        </p:grpSpPr>
        <p:cxnSp>
          <p:nvCxnSpPr>
            <p:cNvPr id="5" name="Connector 5"/>
            <p:cNvCxnSpPr/>
            <p:nvPr/>
          </p:nvCxnSpPr>
          <p:spPr>
            <a:xfrm flipH="1">
              <a:off x="4403275" y="6101568"/>
              <a:ext cx="3028272" cy="0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TextBox 11"/>
            <p:cNvSpPr txBox="1"/>
            <p:nvPr/>
          </p:nvSpPr>
          <p:spPr>
            <a:xfrm>
              <a:off x="4444233" y="2041066"/>
              <a:ext cx="3024645" cy="579431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b" anchorCtr="0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lang="en-US" sz="2400" b="1">
                  <a:solidFill>
                    <a:schemeClr val="accent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Background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75418" y="2668123"/>
              <a:ext cx="3624187" cy="3130671"/>
            </a:xfrm>
            <a:prstGeom prst="rect">
              <a:avLst/>
            </a:prstGeom>
            <a:ln/>
          </p:spPr>
          <p:txBody>
            <a:bodyPr vert="horz" wrap="square" lIns="114300" tIns="57150" rIns="114300" bIns="57150" rtlCol="0" anchor="t" anchorCtr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lang="en-US" dirty="0">
                  <a:solidFill>
                    <a:schemeClr val="dk1">
                      <a:alpha val="100000"/>
                    </a:schemeClr>
                  </a:solidFill>
                  <a:latin typeface="Microsoft Yahei"/>
                  <a:ea typeface="Microsoft Yahei"/>
                  <a:cs typeface="Microsoft Yahei"/>
                </a:rPr>
                <a:t> IRS technology has gained significant attention in recent years due to its ability to improve wireless communication systems by manipulating electromagnetic waves in a cost-effective and energy-efficient manner.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247833" y="2041066"/>
            <a:ext cx="3024645" cy="5794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Key Components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9018" y="2668123"/>
            <a:ext cx="3216288" cy="313067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consists of a large number of passive reflecting elements, a controller, and a communication system.</a:t>
            </a:r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A9D17217-F614-A6E1-1D59-A3255102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71805" y="1837630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1006549" y="1972374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871805" y="4037476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1006549" y="4172220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6481317" y="1837630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6616062" y="1972374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6481317" y="4037476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6616062" y="4172220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TextBox 10"/>
          <p:cNvSpPr txBox="1"/>
          <p:nvPr/>
        </p:nvSpPr>
        <p:spPr>
          <a:xfrm>
            <a:off x="1630030" y="1754944"/>
            <a:ext cx="4851287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Wireless Communications: IRS technology can be used to improve the coverage and capacity of wireless communication networks, including 5G and beyond.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3811" y="3927229"/>
            <a:ext cx="5061789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Smart Homes: IRS technology can be integrated into smart homes to improve the efficiency and performance of wireless devices, such as routers and smart speakers.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20122" y="3927229"/>
            <a:ext cx="4971878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Security: IRS can be used to enhance physical security by manipulating the reflection of radio signals to create a physical barrier or to jam unauthorized signals.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06341" y="1754944"/>
            <a:ext cx="4851287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Radar Systems: IRS can be used to enhance the performance of radar systems by improving the directionality and focusing of transmitted signals.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Applications of IRS Technology in Various Fields</a:t>
            </a:r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08067400-759D-C3CD-12D5-653FB45A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l="5764" r="5764"/>
          <a:stretch>
            <a:fillRect/>
          </a:stretch>
        </p:blipFill>
        <p:spPr>
          <a:xfrm>
            <a:off x="606080" y="1416215"/>
            <a:ext cx="5583600" cy="4733343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5247872" y="1964929"/>
            <a:ext cx="6270967" cy="3635914"/>
          </a:xfrm>
          <a:prstGeom prst="roundRect">
            <a:avLst>
              <a:gd name="adj" fmla="val 5898"/>
            </a:avLst>
          </a:prstGeom>
          <a:solidFill>
            <a:srgbClr val="FFFFFF">
              <a:alpha val="100000"/>
            </a:srgbClr>
          </a:solidFill>
          <a:ln/>
          <a:effectLst>
            <a:outerShdw blurRad="361950">
              <a:schemeClr val="dk1">
                <a:alpha val="6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5576989" y="2314681"/>
            <a:ext cx="6008931" cy="29364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Future-Proof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IRS technology is a future-proof technology that can be easily adapted to meet the changing needs of wireless communication systems, making it a valuable investment for researchers and industry.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Significance of Research on IRS Technology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5AF07-F126-2667-6938-BB4CBF5B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462858"/>
            <a:ext cx="233394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96198" y="2019814"/>
            <a:ext cx="6164285" cy="19964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3675" b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Current Status and Trends in IRS Technology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1D5D56-0D70-23D9-1ADE-0DDE7C15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640619" y="1239230"/>
            <a:ext cx="3783578" cy="50447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Overview of Existing IRS Systems</a:t>
            </a:r>
          </a:p>
        </p:txBody>
      </p:sp>
      <p:sp>
        <p:nvSpPr>
          <p:cNvPr id="4" name="AutoShape 4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Transmitarray antennas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9845" y="3472246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Transmitarray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antennas are similar to </a:t>
            </a: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reflectarray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antennas, but they use active elements to retransmit the signal with a controlled phase shift.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Large intelligent surfaces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2199" y="5252378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Large intelligent surfaces (LIS) are made of a large number of small, passive elements that can reflect the signal in a controlled manner.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Reflectarray antennas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2221" y="1692114"/>
            <a:ext cx="6443302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Reflectarray</a:t>
            </a: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antennas use a large number of passive elements to reflect the signal towards a specific direction.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AutoShape 17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2F35D9F9-93D0-C197-6D35-F9538BDF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5901" y="1362476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Beamforming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5901" y="2024509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Beamforming is the process of directing the signal towards a specific direction using the reflection of the IRS elements.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Key Challenges Faced by IRS Technology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598" y="1564792"/>
            <a:ext cx="353467" cy="353467"/>
            <a:chOff x="838598" y="1564792"/>
            <a:chExt cx="353467" cy="353467"/>
          </a:xfrm>
        </p:grpSpPr>
        <p:sp>
          <p:nvSpPr>
            <p:cNvPr id="6" name="AutoShape 6"/>
            <p:cNvSpPr/>
            <p:nvPr/>
          </p:nvSpPr>
          <p:spPr>
            <a:xfrm>
              <a:off x="920082" y="1646276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7" name="AutoShape 7"/>
            <p:cNvSpPr/>
            <p:nvPr/>
          </p:nvSpPr>
          <p:spPr>
            <a:xfrm>
              <a:off x="838598" y="1564792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8" name="TextBox 8"/>
          <p:cNvSpPr txBox="1"/>
          <p:nvPr/>
        </p:nvSpPr>
        <p:spPr>
          <a:xfrm>
            <a:off x="1685901" y="3189254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Channel estimation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01" y="3851288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Channel estimation is the process of estimating the channel state information (CSI) between the transmitter, IRS, and receiver.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598" y="3391571"/>
            <a:ext cx="353467" cy="353467"/>
            <a:chOff x="838598" y="3391571"/>
            <a:chExt cx="353467" cy="353467"/>
          </a:xfrm>
        </p:grpSpPr>
        <p:sp>
          <p:nvSpPr>
            <p:cNvPr id="11" name="AutoShape 11"/>
            <p:cNvSpPr/>
            <p:nvPr/>
          </p:nvSpPr>
          <p:spPr>
            <a:xfrm>
              <a:off x="920082" y="3473055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2" name="AutoShape 12"/>
            <p:cNvSpPr/>
            <p:nvPr/>
          </p:nvSpPr>
          <p:spPr>
            <a:xfrm>
              <a:off x="838598" y="3391571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13" name="TextBox 13"/>
          <p:cNvSpPr txBox="1"/>
          <p:nvPr/>
        </p:nvSpPr>
        <p:spPr>
          <a:xfrm>
            <a:off x="1685901" y="4975292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Deployment and cost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5901" y="5637325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The deployment of IRS systems requires a large number of passive elements, which increases the cost and complexity of the system.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38598" y="5177608"/>
            <a:ext cx="353467" cy="353467"/>
            <a:chOff x="838598" y="5177608"/>
            <a:chExt cx="353467" cy="353467"/>
          </a:xfrm>
        </p:grpSpPr>
        <p:sp>
          <p:nvSpPr>
            <p:cNvPr id="16" name="AutoShape 16"/>
            <p:cNvSpPr/>
            <p:nvPr/>
          </p:nvSpPr>
          <p:spPr>
            <a:xfrm>
              <a:off x="920082" y="5259092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838598" y="5177608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cxnSp>
        <p:nvCxnSpPr>
          <p:cNvPr id="18" name="Connector 18"/>
          <p:cNvCxnSpPr/>
          <p:nvPr/>
        </p:nvCxnSpPr>
        <p:spPr>
          <a:xfrm>
            <a:off x="1015332" y="1728028"/>
            <a:ext cx="0" cy="5214957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A5CFFB29-9337-B609-1F9B-9CF8AE8A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9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/>
          </a:blip>
          <a:srcRect l="25000" r="25000"/>
          <a:stretch>
            <a:fillRect/>
          </a:stretch>
        </p:blipFill>
        <p:spPr>
          <a:xfrm>
            <a:off x="640619" y="1239230"/>
            <a:ext cx="3783578" cy="50447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Future Trends and Opportunities for IRS Technology</a:t>
            </a:r>
          </a:p>
        </p:txBody>
      </p:sp>
      <p:sp>
        <p:nvSpPr>
          <p:cNvPr id="4" name="AutoShape 4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Improved Coverage and Reliability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9845" y="3472246"/>
            <a:ext cx="685595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can help extend the coverage of wireless networks, particularly in areas with weak signals or obstructions, leading to more reliable connections.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Lower Energy Consumption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2199" y="5252378"/>
            <a:ext cx="6919801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technology is expected to be more energy-efficient than traditional communication systems, consuming less power and reducing the carbon footprint of wireless networks.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Enhanced Spectrum Efficiency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2221" y="1692114"/>
            <a:ext cx="7072061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technology is expected to significantly improve spectrum efficiency, allowing multiple devices to communicate simultaneously within the same frequency band.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AutoShape 17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E4491BE4-4409-C301-F8D9-60241DB3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462858"/>
            <a:ext cx="233394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81400" y="2034101"/>
            <a:ext cx="6164285" cy="19964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3600" b="1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Technical Foundations for Future IRS Development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9E4673-DC7D-EDC2-7B85-617E1D99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Communication Protocols and Standards</a:t>
            </a:r>
          </a:p>
        </p:txBody>
      </p:sp>
      <p:sp>
        <p:nvSpPr>
          <p:cNvPr id="3" name="AutoShape 3"/>
          <p:cNvSpPr/>
          <p:nvPr/>
        </p:nvSpPr>
        <p:spPr>
          <a:xfrm>
            <a:off x="673008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1857984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IRS-specific MAC protocols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89633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091" y="2527659"/>
            <a:ext cx="5208804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Designing MAC protocols that take into account the unique characteristics and constraints of IRS.</a:t>
            </a:r>
          </a:p>
        </p:txBody>
      </p:sp>
      <p:sp>
        <p:nvSpPr>
          <p:cNvPr id="7" name="AutoShape 7"/>
          <p:cNvSpPr/>
          <p:nvPr/>
        </p:nvSpPr>
        <p:spPr>
          <a:xfrm>
            <a:off x="6250024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7435000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Network architecture and design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66649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0106" y="2527659"/>
            <a:ext cx="5302293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Developing network architectures that efficiently integrate IRS into existing communication systems.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665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854641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Standardization and interoperability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86290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747" y="5353598"/>
            <a:ext cx="5546933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Creating standards and protocols to ensure interoperability and compatibility between different IRS devices and systems.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6681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7431657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Security and privacy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63306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6763" y="5291100"/>
            <a:ext cx="5302293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Developing security mechanisms to protect data and privacy in IRS-assisted communication networks.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3AB187CD-5B55-AF9D-20E6-0870015F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03259" y="139481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6303259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715856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715856" y="1378942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6703007" y="412637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Federated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03007" y="4705286"/>
            <a:ext cx="5012516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Implementing federated learning frameworks to train IRS optimization models using data from multiple devices.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8702" y="161018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Reinforcement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702" y="2189096"/>
            <a:ext cx="4859714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Using reinforcement learning algorithms to optimize IRS reflection coefficients for improved network performance.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86105" y="161018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Deep learning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6104" y="2189096"/>
            <a:ext cx="4790039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Applying deep learning techniques to solve complex optimization problems in IRS-assisted communication networks.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702" y="412637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Unsupervised learning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8702" y="4705286"/>
            <a:ext cx="4997298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Utilizing unsupervised learning algorithms to discover optimal IRS configurations and adapt to changing environments.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Machine Learning Algorithms for IRS Optimization</a:t>
            </a:r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E076173D-0084-7E31-EEB5-52F3F4706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Sensing Technologies Integrated with IRS</a:t>
            </a:r>
          </a:p>
        </p:txBody>
      </p:sp>
      <p:sp>
        <p:nvSpPr>
          <p:cNvPr id="3" name="AutoShape 3"/>
          <p:cNvSpPr/>
          <p:nvPr/>
        </p:nvSpPr>
        <p:spPr>
          <a:xfrm>
            <a:off x="673008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1857984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IRS-assisted localization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89633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090" y="2527659"/>
            <a:ext cx="5360215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Enhancing the accuracy and reliability of indoor localization systems using IRS-reflected signals.</a:t>
            </a:r>
          </a:p>
        </p:txBody>
      </p:sp>
      <p:sp>
        <p:nvSpPr>
          <p:cNvPr id="7" name="AutoShape 7"/>
          <p:cNvSpPr/>
          <p:nvPr/>
        </p:nvSpPr>
        <p:spPr>
          <a:xfrm>
            <a:off x="6250024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7435000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IRS-based environmental sensing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66649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0106" y="2527659"/>
            <a:ext cx="5759493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Developing sensing techniques that leverage IRS to monitor and analyze the physical environment, such as temperature, humidity, and air quality.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665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854641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IRS-assisted object detection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486290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748" y="5353598"/>
            <a:ext cx="4857750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Using IRS to detect and track objects in a given space, enabling new applications in security and surveillance.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6681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7431657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IRS-based gesture recognition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63306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6764" y="5291100"/>
            <a:ext cx="4857750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Applying machine learning algorithms to IRS-reflected signals to recognize gestures and interactions between users.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0EE37A09-CAE8-08A2-8BF9-93E512DE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462858"/>
            <a:ext cx="233394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29000" y="2034101"/>
            <a:ext cx="6164285" cy="19964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3675" b="1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Potential Applications of Future IRS Developments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46E7A8-DD39-2EA8-BE6D-30917226B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Enhanced Wireless Communication Networks</a:t>
            </a:r>
          </a:p>
        </p:txBody>
      </p:sp>
      <p:sp>
        <p:nvSpPr>
          <p:cNvPr id="3" name="AutoShape 3"/>
          <p:cNvSpPr/>
          <p:nvPr/>
        </p:nvSpPr>
        <p:spPr>
          <a:xfrm>
            <a:off x="673008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1857984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Improved coverage and capacity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89633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091" y="2527659"/>
            <a:ext cx="5208804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can reflect signals around obstacles, expanding coverage and capacity in areas with poor signal strength.</a:t>
            </a:r>
          </a:p>
        </p:txBody>
      </p:sp>
      <p:sp>
        <p:nvSpPr>
          <p:cNvPr id="7" name="AutoShape 7"/>
          <p:cNvSpPr/>
          <p:nvPr/>
        </p:nvSpPr>
        <p:spPr>
          <a:xfrm>
            <a:off x="6250024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7435000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Enhanced reliability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66649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0106" y="2527659"/>
            <a:ext cx="5530893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can provide alternative paths for signals to reach their destination, reducing the risk of signal loss or interruption.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665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854641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Reduced interference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86290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748" y="5353598"/>
            <a:ext cx="5091452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can focus signals in specific directions, reducing interference from other sources and improving signal quality.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6681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7431657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Lower energy consumption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6063306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6763" y="5291100"/>
            <a:ext cx="5438759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IRS can reduce the energy consumption of wireless networks by reflecting signals instead of transmitting them.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5F470B4E-B33B-AE6B-283C-BD185DBF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64937" y="1269846"/>
            <a:ext cx="11062125" cy="5284580"/>
          </a:xfrm>
          <a:prstGeom prst="roundRect">
            <a:avLst>
              <a:gd name="adj" fmla="val 5846"/>
            </a:avLst>
          </a:prstGeom>
          <a:solidFill>
            <a:srgbClr val="FFFFFF">
              <a:alpha val="100000"/>
            </a:srgbClr>
          </a:solidFill>
          <a:ln/>
          <a:effectLst>
            <a:outerShdw blurRad="34290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 l="14897" r="14897"/>
          <a:stretch>
            <a:fillRect/>
          </a:stretch>
        </p:blipFill>
        <p:spPr>
          <a:xfrm>
            <a:off x="1006173" y="1701554"/>
            <a:ext cx="3673297" cy="442116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800601" y="2021953"/>
            <a:ext cx="6826462" cy="3780367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Enhanced detection capabilities</a:t>
            </a:r>
          </a:p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IRS can reflect signals to improve the detection capabilities of radar systems, making them more sensitive and accurate.</a:t>
            </a:r>
          </a:p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Improved situational awareness</a:t>
            </a:r>
          </a:p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IRS can provide additional information about the location and movement of objects, improving situational awareness for military and law enforcement applications.</a:t>
            </a:r>
          </a:p>
          <a:p>
            <a:pPr algn="ctr">
              <a:lnSpc>
                <a:spcPct val="140000"/>
              </a:lnSpc>
            </a:pPr>
            <a:r>
              <a:rPr lang="en-US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Covert surveillance</a:t>
            </a:r>
          </a:p>
          <a:p>
            <a:pPr algn="ctr">
              <a:lnSpc>
                <a:spcPct val="140000"/>
              </a:lnSpc>
            </a:pPr>
            <a:r>
              <a:rPr lang="en-US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IRS can reflect signals in ways that make it difficult for others to detect, enabling covert surveillance operations.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Improved Radar Systems and Surveillance Techniques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FDA4F0-5C56-CD22-169A-16821DC7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 amt="70000"/>
          </a:blip>
          <a:srcRect t="9579" b="9579"/>
          <a:stretch>
            <a:fillRect/>
          </a:stretch>
        </p:blipFill>
        <p:spPr>
          <a:xfrm>
            <a:off x="1415276" y="1633786"/>
            <a:ext cx="2433158" cy="2364134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5406" y="4346209"/>
            <a:ext cx="10658475" cy="192810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Advanced tracking</a:t>
            </a:r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 can be used to track the movement of objects and people, providing valuable information for security and surveillance purposes.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70000"/>
          </a:blip>
          <a:srcRect t="1418" b="1418"/>
          <a:stretch>
            <a:fillRect/>
          </a:stretch>
        </p:blipFill>
        <p:spPr>
          <a:xfrm>
            <a:off x="4855037" y="1620933"/>
            <a:ext cx="2433158" cy="2364134"/>
          </a:xfrm>
          <a:prstGeom prst="ellipse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70000"/>
          </a:blip>
          <a:srcRect t="3126" b="3126"/>
          <a:stretch>
            <a:fillRect/>
          </a:stretch>
        </p:blipFill>
        <p:spPr>
          <a:xfrm>
            <a:off x="8349233" y="1615605"/>
            <a:ext cx="2433158" cy="2364134"/>
          </a:xfrm>
          <a:prstGeom prst="ellipse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Improved Radar Systems and Surveillance Techniques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21143C-CB0F-CC3D-EE98-889F2DF0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462858"/>
            <a:ext cx="233394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29000" y="2034101"/>
            <a:ext cx="6164285" cy="19964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3750" b="1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Case Studies on IRS Technology Applications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4E6887-EED6-1FF5-5F10-BCB414DD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Case Study 1: IRS-Assisted Wireless Power Transfer</a:t>
            </a:r>
          </a:p>
        </p:txBody>
      </p:sp>
      <p:sp>
        <p:nvSpPr>
          <p:cNvPr id="3" name="AutoShape 3"/>
          <p:cNvSpPr/>
          <p:nvPr/>
        </p:nvSpPr>
        <p:spPr>
          <a:xfrm>
            <a:off x="673008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1857984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IRS-assisted WPT system design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489633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881" y="2527659"/>
            <a:ext cx="5530892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Utilizing IRS to enhance the efficiency of wireless power transfer between transmitters and receivers.</a:t>
            </a:r>
          </a:p>
        </p:txBody>
      </p:sp>
      <p:sp>
        <p:nvSpPr>
          <p:cNvPr id="7" name="AutoShape 7"/>
          <p:cNvSpPr/>
          <p:nvPr/>
        </p:nvSpPr>
        <p:spPr>
          <a:xfrm>
            <a:off x="6250024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7435000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Beamforming optimization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66649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0106" y="2527659"/>
            <a:ext cx="5530893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Designing beamforming strategies to focus the transmitted power towards the receiver, reducing energy losses.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665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854641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Power allocation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86290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6290" y="5339933"/>
            <a:ext cx="5701052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Optimizing the power allocation between IRS reflection and direct transmission to achieve maximum energy transfer.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6681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7431657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Experimental validation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63306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76764" y="5291100"/>
            <a:ext cx="5762836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Demonstrating the feasibility of IRS-assisted WPT in practical environments and measuring performance improvements.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89072D29-883B-4D1B-BD21-E2AE9F4D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Case Study 2: IRS-Based Smart Home Automation System</a:t>
            </a:r>
          </a:p>
        </p:txBody>
      </p:sp>
      <p:sp>
        <p:nvSpPr>
          <p:cNvPr id="3" name="AutoShape 3"/>
          <p:cNvSpPr/>
          <p:nvPr/>
        </p:nvSpPr>
        <p:spPr>
          <a:xfrm>
            <a:off x="673008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1857984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IRS-enhanced communication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489633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090" y="2527659"/>
            <a:ext cx="5208801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Utilizing IRS to improve the communication performance between smart devices in a home automation system.</a:t>
            </a:r>
          </a:p>
        </p:txBody>
      </p:sp>
      <p:sp>
        <p:nvSpPr>
          <p:cNvPr id="7" name="AutoShape 7"/>
          <p:cNvSpPr/>
          <p:nvPr/>
        </p:nvSpPr>
        <p:spPr>
          <a:xfrm>
            <a:off x="6250024" y="1424575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7435000" y="1424575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Signal processing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66649" y="1584381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80107" y="2527659"/>
            <a:ext cx="5208802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Designing signal processing algorithms to optimize the reflection of IRS to enhance the communication quality.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9665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1854641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Device scheduling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86290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2162" y="5359906"/>
            <a:ext cx="5208801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Developing efficient scheduling algorithms to manage the communication between multiple devices and avoid interference.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46681" y="4240990"/>
            <a:ext cx="1001602" cy="1001602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7431657" y="4240990"/>
            <a:ext cx="3543300" cy="10016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System integration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63306" y="4400796"/>
            <a:ext cx="1368351" cy="6819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6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43363" y="5392434"/>
            <a:ext cx="6448637" cy="100012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 Integrating IRS with existing home automation systems to enhance their functionality and performance.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0E5DE8AD-8394-CE76-C4FF-E9DCBCF2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rcRect l="10777" r="10777"/>
          <a:stretch>
            <a:fillRect/>
          </a:stretch>
        </p:blipFill>
        <p:spPr>
          <a:xfrm>
            <a:off x="606080" y="1416215"/>
            <a:ext cx="5583600" cy="4733343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5247872" y="1964929"/>
            <a:ext cx="6270967" cy="3635914"/>
          </a:xfrm>
          <a:prstGeom prst="roundRect">
            <a:avLst>
              <a:gd name="adj" fmla="val 5898"/>
            </a:avLst>
          </a:prstGeom>
          <a:solidFill>
            <a:srgbClr val="FFFFFF">
              <a:alpha val="100000"/>
            </a:srgbClr>
          </a:solidFill>
          <a:ln/>
          <a:effectLst>
            <a:outerShdw blurRad="361950">
              <a:schemeClr val="dk1">
                <a:alpha val="6000"/>
              </a:schemeClr>
            </a:outerShdw>
          </a:effectLst>
        </p:spPr>
      </p:sp>
      <p:sp>
        <p:nvSpPr>
          <p:cNvPr id="4" name="TextBox 4"/>
          <p:cNvSpPr txBox="1"/>
          <p:nvPr/>
        </p:nvSpPr>
        <p:spPr>
          <a:xfrm>
            <a:off x="5576990" y="2314681"/>
            <a:ext cx="5941850" cy="29364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Future research directions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Identifying areas for further research and development, such as improving the efficiency and accuracy of IRS-based systems, exploring new applications, and addressing potential security and privacy concerns.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Lessons Learned from These Case Studies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6CDC46-7DFA-F86D-6768-63B40941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61387" y="2462858"/>
            <a:ext cx="2333945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25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29000" y="2034101"/>
            <a:ext cx="6164285" cy="19964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lang="en-US" sz="3150" b="1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Research Directions in Future IRS Technology Development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391450-898A-3F6B-E3D3-D2A7A39A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0800000">
            <a:off x="3362644" y="2053685"/>
            <a:ext cx="2667000" cy="3891859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TextBox 3"/>
          <p:cNvSpPr txBox="1"/>
          <p:nvPr/>
        </p:nvSpPr>
        <p:spPr>
          <a:xfrm>
            <a:off x="3468694" y="2570160"/>
            <a:ext cx="2631394" cy="31181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Signal Enhancement Techniques: Such as noise reduction and interference cancellation, to improve the quality of the IRS-reflected signals.</a:t>
            </a:r>
          </a:p>
        </p:txBody>
      </p:sp>
      <p:sp>
        <p:nvSpPr>
          <p:cNvPr id="4" name="AutoShape 4"/>
          <p:cNvSpPr/>
          <p:nvPr/>
        </p:nvSpPr>
        <p:spPr>
          <a:xfrm>
            <a:off x="4342787" y="1691161"/>
            <a:ext cx="706713" cy="70671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TextBox 5"/>
          <p:cNvSpPr txBox="1"/>
          <p:nvPr/>
        </p:nvSpPr>
        <p:spPr>
          <a:xfrm>
            <a:off x="4112392" y="1684472"/>
            <a:ext cx="1167504" cy="7200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AutoShape 6"/>
          <p:cNvSpPr/>
          <p:nvPr/>
        </p:nvSpPr>
        <p:spPr>
          <a:xfrm rot="10800000">
            <a:off x="6206139" y="2050951"/>
            <a:ext cx="2667000" cy="3891859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6312189" y="2445287"/>
            <a:ext cx="2560950" cy="31181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MIMO Communication: Investigating the use of multiple IRS elements to create MIMO channels for increased data throughput and reliability.</a:t>
            </a:r>
          </a:p>
        </p:txBody>
      </p:sp>
      <p:sp>
        <p:nvSpPr>
          <p:cNvPr id="8" name="AutoShape 8"/>
          <p:cNvSpPr/>
          <p:nvPr/>
        </p:nvSpPr>
        <p:spPr>
          <a:xfrm>
            <a:off x="7186282" y="1688427"/>
            <a:ext cx="706713" cy="70671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6955886" y="1681738"/>
            <a:ext cx="1167504" cy="7200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AutoShape 10"/>
          <p:cNvSpPr/>
          <p:nvPr/>
        </p:nvSpPr>
        <p:spPr>
          <a:xfrm rot="10800000">
            <a:off x="9042159" y="2058425"/>
            <a:ext cx="2667000" cy="3891859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9144152" y="2449228"/>
            <a:ext cx="2667000" cy="31181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Channel Estimation and Tracking: Developing accurate channel estimation algorithms to track the IRS-reflected signals and adapt the reflection coefficients accordingly.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022302" y="1695902"/>
            <a:ext cx="706713" cy="70671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TextBox 13"/>
          <p:cNvSpPr txBox="1"/>
          <p:nvPr/>
        </p:nvSpPr>
        <p:spPr>
          <a:xfrm>
            <a:off x="9791907" y="1689213"/>
            <a:ext cx="1167504" cy="7200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AutoShape 14"/>
          <p:cNvSpPr/>
          <p:nvPr/>
        </p:nvSpPr>
        <p:spPr>
          <a:xfrm rot="10800000">
            <a:off x="530681" y="2061843"/>
            <a:ext cx="2667000" cy="3891859"/>
          </a:xfrm>
          <a:prstGeom prst="round2Same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5" name="TextBox 15"/>
          <p:cNvSpPr txBox="1"/>
          <p:nvPr/>
        </p:nvSpPr>
        <p:spPr>
          <a:xfrm>
            <a:off x="636732" y="2578318"/>
            <a:ext cx="2662942" cy="31181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Beamforming and Beam Shaping: Optimizing the IRS reflection coefficients to focus the signal towards the intended receiver.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510824" y="1699319"/>
            <a:ext cx="706713" cy="706713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TextBox 17"/>
          <p:cNvSpPr txBox="1"/>
          <p:nvPr/>
        </p:nvSpPr>
        <p:spPr>
          <a:xfrm>
            <a:off x="1280429" y="1692630"/>
            <a:ext cx="1167504" cy="7200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DFD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Novel Signal Processing Techniques for IRS</a:t>
            </a:r>
          </a:p>
        </p:txBody>
      </p:sp>
      <p:sp>
        <p:nvSpPr>
          <p:cNvPr id="19" name="灯片编号占位符 18">
            <a:extLst>
              <a:ext uri="{FF2B5EF4-FFF2-40B4-BE49-F238E27FC236}">
                <a16:creationId xmlns:a16="http://schemas.microsoft.com/office/drawing/2014/main" id="{05B62A4F-6AD0-FD15-5AB2-00CE787E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96896" y="1606305"/>
            <a:ext cx="4991100" cy="2000250"/>
          </a:xfrm>
          <a:prstGeom prst="roundRect">
            <a:avLst>
              <a:gd name="adj" fmla="val 12963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6396896" y="4021307"/>
            <a:ext cx="4991100" cy="2000250"/>
          </a:xfrm>
          <a:prstGeom prst="roundRect">
            <a:avLst>
              <a:gd name="adj" fmla="val 12963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842410" y="1606305"/>
            <a:ext cx="4991100" cy="2000250"/>
          </a:xfrm>
          <a:prstGeom prst="roundRect">
            <a:avLst>
              <a:gd name="adj" fmla="val 12963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842410" y="4021307"/>
            <a:ext cx="4991100" cy="2000250"/>
          </a:xfrm>
          <a:prstGeom prst="roundRect">
            <a:avLst>
              <a:gd name="adj" fmla="val 12963"/>
            </a:avLst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1268693" y="1938732"/>
            <a:ext cx="4564817" cy="138808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Signal interference: IRS can cause interference with other signals, leading to a reduction in signal quality and performance.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21244" y="1859555"/>
            <a:ext cx="4566752" cy="1493750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Complexity of deployment: IRS requires a large number of reflecting elements to be placed in specific locations, making deployment complex and expensive.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21244" y="4274557"/>
            <a:ext cx="4684956" cy="1493750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Limited range: The range of IRS is limited by the size and number of reflecting elements, making it difficult to achieve long-distance communication.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6758" y="4274557"/>
            <a:ext cx="4566752" cy="1493750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Lack of standardization: Currently, there is no standard protocol for IRS communication, leading to compatibility and interoperability issues.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Challenges Faced by Researchers in This Field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42410" y="1606305"/>
            <a:ext cx="359272" cy="359272"/>
          </a:xfrm>
          <a:prstGeom prst="homePlat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6396896" y="1606305"/>
            <a:ext cx="359272" cy="359272"/>
          </a:xfrm>
          <a:prstGeom prst="homePlat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842410" y="4005123"/>
            <a:ext cx="359272" cy="359272"/>
          </a:xfrm>
          <a:prstGeom prst="homePlat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6396896" y="4005123"/>
            <a:ext cx="359272" cy="359272"/>
          </a:xfrm>
          <a:prstGeom prst="homePlat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39072DD7-C152-485C-C770-1F454D68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>
            <a:alphaModFix amt="70000"/>
          </a:blip>
          <a:srcRect/>
          <a:stretch>
            <a:fillRect/>
          </a:stretch>
        </p:blipFill>
        <p:spPr>
          <a:xfrm>
            <a:off x="1415276" y="1633786"/>
            <a:ext cx="2433158" cy="2364134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95406" y="4346209"/>
            <a:ext cx="10658475" cy="192810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Integration with other technologies</a:t>
            </a:r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IRS should be integrated with other technologies such as massive MIMO, </a:t>
            </a:r>
            <a:r>
              <a:rPr lang="en-US" sz="2000" dirty="0" err="1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mmWave</a:t>
            </a:r>
            <a:r>
              <a:rPr lang="en-US" sz="20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, and 5G to enhance the overall performance of wireless networks.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>
            <a:fillRect/>
          </a:stretch>
        </p:blipFill>
        <p:spPr>
          <a:xfrm>
            <a:off x="4855037" y="1620933"/>
            <a:ext cx="2433158" cy="2364134"/>
          </a:xfrm>
          <a:prstGeom prst="ellipse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>
            <a:alphaModFix amt="70000"/>
          </a:blip>
          <a:srcRect l="15777" r="15777"/>
          <a:stretch>
            <a:fillRect/>
          </a:stretch>
        </p:blipFill>
        <p:spPr>
          <a:xfrm>
            <a:off x="8349233" y="1615605"/>
            <a:ext cx="2433158" cy="2364134"/>
          </a:xfrm>
          <a:prstGeom prst="ellipse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Recommendations for Future Research Directions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73BC9A-A805-D16A-0053-071A153F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71805" y="1837630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1006549" y="1972374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871805" y="4037476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1006549" y="4172220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6481317" y="1837630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6616062" y="1972374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6481317" y="4037476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6616062" y="4172220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TextBox 10"/>
          <p:cNvSpPr txBox="1"/>
          <p:nvPr/>
        </p:nvSpPr>
        <p:spPr>
          <a:xfrm>
            <a:off x="1630030" y="1754944"/>
            <a:ext cx="4764394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Improved communication: IRS technology has the potential to improve communication in areas with poor coverage, such as rural and remote areas.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43811" y="3927229"/>
            <a:ext cx="4452189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Lower energy costs: IRS can reduce energy consumption, leading to lower energy costs for both consumers and service providers.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19448" y="3910023"/>
            <a:ext cx="5072552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New business opportunities: The development of IRS technology could create new business opportunities in areas such as smart cities, Internet of Things, and autonomous vehicles.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06341" y="1754944"/>
            <a:ext cx="4509182" cy="1839468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Enhanced network capacity: IRS can increase the capacity of wireless networks, allowing for more devices to be connected simultaneously.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Potential Impact on Society and Industry</a:t>
            </a:r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D456D216-ED08-DD3B-3846-3FC472FF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EDF118-F5CF-48AD-BABC-8E77D661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BC12EE-3005-7FAA-8250-1C9B34E2F0C9}"/>
              </a:ext>
            </a:extLst>
          </p:cNvPr>
          <p:cNvSpPr txBox="1"/>
          <p:nvPr/>
        </p:nvSpPr>
        <p:spPr>
          <a:xfrm>
            <a:off x="1466731" y="1419470"/>
            <a:ext cx="9258084" cy="465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[1]Q. Wu, S. Zhang, B. Zheng, C. You and R. Zhang, "Intelligent Reflecting Surface-Aided Wireless Communications: A Tutorial," in IEEE Transactions on Communications, vol. 69, no. 5, pp. 3313-3351, May 2021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[2]C. Pan et al., "An Overview of Signal Processing Techniques for RIS/IRS-Aided Wireless Systems," in IEEE Journal of Selected Topics in Signal Processing, vol. 16, no. 5, pp. 883-917, Aug. 2022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[3]H. Yang, Z. Xiong, J. Zhao, D. Niyato, L. Xiao and Q. Wu, "Deep Reinforcement Learning-Based Intelligent Reflecting Surface for Secure Wireless Communications," in IEEE Transactions on Wireless Communications, vol. 20, no. 1, pp. 375-388, Jan. 2021</a:t>
            </a:r>
          </a:p>
        </p:txBody>
      </p:sp>
      <p:sp>
        <p:nvSpPr>
          <p:cNvPr id="5" name="TextBox 14">
            <a:extLst>
              <a:ext uri="{FF2B5EF4-FFF2-40B4-BE49-F238E27FC236}">
                <a16:creationId xmlns:a16="http://schemas.microsoft.com/office/drawing/2014/main" id="{F24CBCE8-B6E6-11A3-3FE7-D795A59C4A7A}"/>
              </a:ext>
            </a:extLst>
          </p:cNvPr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4400" b="1" dirty="0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参考文献</a:t>
            </a:r>
            <a:endParaRPr lang="en-US" sz="4400" b="1" dirty="0">
              <a:solidFill>
                <a:schemeClr val="dk2">
                  <a:alpha val="10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1464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0575" y="3179172"/>
            <a:ext cx="5676900" cy="13430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l">
              <a:lnSpc>
                <a:spcPct val="64000"/>
              </a:lnSpc>
            </a:pPr>
            <a:r>
              <a:rPr lang="en-US" sz="8775" b="1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3283" y="2461133"/>
            <a:ext cx="3248025" cy="6191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l">
              <a:lnSpc>
                <a:spcPct val="64000"/>
              </a:lnSpc>
            </a:pPr>
            <a:r>
              <a:rPr lang="en-US" sz="3600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感谢您的观看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535EBF-9F39-A93C-765A-DE77212A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279682B-5B51-9B11-FCD9-E49C3F134D6E}"/>
              </a:ext>
            </a:extLst>
          </p:cNvPr>
          <p:cNvSpPr txBox="1"/>
          <p:nvPr/>
        </p:nvSpPr>
        <p:spPr>
          <a:xfrm>
            <a:off x="2514600" y="4522197"/>
            <a:ext cx="4355594" cy="106917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2000" dirty="0" err="1">
                <a:latin typeface="Microsoft Yahei"/>
                <a:ea typeface="Microsoft Yahei"/>
                <a:cs typeface="Microsoft Yahei"/>
              </a:rPr>
              <a:t>汇报人</a:t>
            </a:r>
            <a:r>
              <a:rPr lang="en-US" sz="2000" dirty="0"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2000" dirty="0">
                <a:latin typeface="Microsoft Yahei"/>
                <a:ea typeface="Microsoft Yahei"/>
                <a:cs typeface="Microsoft Yahei"/>
              </a:rPr>
              <a:t>窦翔宇、邹鸿稞、林翔</a:t>
            </a:r>
            <a:endParaRPr lang="en-US" altLang="zh-CN" sz="2000" dirty="0"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2000" dirty="0">
                <a:latin typeface="Microsoft Yahei"/>
                <a:ea typeface="Microsoft Yahei"/>
                <a:cs typeface="Microsoft Yahei"/>
              </a:rPr>
              <a:t>PPT</a:t>
            </a:r>
            <a:r>
              <a:rPr lang="zh-CN" altLang="en-US" sz="2000" dirty="0">
                <a:latin typeface="Microsoft Yahei"/>
                <a:ea typeface="Microsoft Yahei"/>
                <a:cs typeface="Microsoft Yahei"/>
              </a:rPr>
              <a:t>制作：戴明伯、雷宇航</a:t>
            </a:r>
            <a:endParaRPr lang="en-US"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10103"/>
      </a:dk1>
      <a:lt1>
        <a:srgbClr val="F6F6FE"/>
      </a:lt1>
      <a:dk2>
        <a:srgbClr val="010103"/>
      </a:dk2>
      <a:lt2>
        <a:srgbClr val="D9DCFF"/>
      </a:lt2>
      <a:accent1>
        <a:srgbClr val="4F5EF7"/>
      </a:accent1>
      <a:accent2>
        <a:srgbClr val="3AB9AB"/>
      </a:accent2>
      <a:accent3>
        <a:srgbClr val="4E5AD8"/>
      </a:accent3>
      <a:accent4>
        <a:srgbClr val="3945BF"/>
      </a:accent4>
      <a:accent5>
        <a:srgbClr val="2733A8"/>
      </a:accent5>
      <a:accent6>
        <a:srgbClr val="19259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10103"/>
      </a:dk1>
      <a:lt1>
        <a:srgbClr val="F6F6FE"/>
      </a:lt1>
      <a:dk2>
        <a:srgbClr val="010103"/>
      </a:dk2>
      <a:lt2>
        <a:srgbClr val="D9DCFF"/>
      </a:lt2>
      <a:accent1>
        <a:srgbClr val="4F5EF7"/>
      </a:accent1>
      <a:accent2>
        <a:srgbClr val="3AB9AB"/>
      </a:accent2>
      <a:accent3>
        <a:srgbClr val="4E5AD8"/>
      </a:accent3>
      <a:accent4>
        <a:srgbClr val="3945BF"/>
      </a:accent4>
      <a:accent5>
        <a:srgbClr val="2733A8"/>
      </a:accent5>
      <a:accent6>
        <a:srgbClr val="19259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10103"/>
    </a:dk1>
    <a:lt1>
      <a:srgbClr val="F6F6FE"/>
    </a:lt1>
    <a:dk2>
      <a:srgbClr val="010103"/>
    </a:dk2>
    <a:lt2>
      <a:srgbClr val="D9DCFF"/>
    </a:lt2>
    <a:accent1>
      <a:srgbClr val="4F5EF7"/>
    </a:accent1>
    <a:accent2>
      <a:srgbClr val="3AB9AB"/>
    </a:accent2>
    <a:accent3>
      <a:srgbClr val="4E5AD8"/>
    </a:accent3>
    <a:accent4>
      <a:srgbClr val="3945BF"/>
    </a:accent4>
    <a:accent5>
      <a:srgbClr val="2733A8"/>
    </a:accent5>
    <a:accent6>
      <a:srgbClr val="19259B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10103"/>
    </a:dk1>
    <a:lt1>
      <a:srgbClr val="F6F6FE"/>
    </a:lt1>
    <a:dk2>
      <a:srgbClr val="010103"/>
    </a:dk2>
    <a:lt2>
      <a:srgbClr val="D9DCFF"/>
    </a:lt2>
    <a:accent1>
      <a:srgbClr val="4F5EF7"/>
    </a:accent1>
    <a:accent2>
      <a:srgbClr val="3AB9AB"/>
    </a:accent2>
    <a:accent3>
      <a:srgbClr val="4E5AD8"/>
    </a:accent3>
    <a:accent4>
      <a:srgbClr val="3945BF"/>
    </a:accent4>
    <a:accent5>
      <a:srgbClr val="2733A8"/>
    </a:accent5>
    <a:accent6>
      <a:srgbClr val="19259B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10103"/>
    </a:dk1>
    <a:lt1>
      <a:srgbClr val="F6F6FE"/>
    </a:lt1>
    <a:dk2>
      <a:srgbClr val="010103"/>
    </a:dk2>
    <a:lt2>
      <a:srgbClr val="D9DCFF"/>
    </a:lt2>
    <a:accent1>
      <a:srgbClr val="4F5EF7"/>
    </a:accent1>
    <a:accent2>
      <a:srgbClr val="3AB9AB"/>
    </a:accent2>
    <a:accent3>
      <a:srgbClr val="4E5AD8"/>
    </a:accent3>
    <a:accent4>
      <a:srgbClr val="3945BF"/>
    </a:accent4>
    <a:accent5>
      <a:srgbClr val="2733A8"/>
    </a:accent5>
    <a:accent6>
      <a:srgbClr val="19259B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10103"/>
    </a:dk1>
    <a:lt1>
      <a:srgbClr val="F6F6FE"/>
    </a:lt1>
    <a:dk2>
      <a:srgbClr val="010103"/>
    </a:dk2>
    <a:lt2>
      <a:srgbClr val="D9DCFF"/>
    </a:lt2>
    <a:accent1>
      <a:srgbClr val="4F5EF7"/>
    </a:accent1>
    <a:accent2>
      <a:srgbClr val="3AB9AB"/>
    </a:accent2>
    <a:accent3>
      <a:srgbClr val="4E5AD8"/>
    </a:accent3>
    <a:accent4>
      <a:srgbClr val="3945BF"/>
    </a:accent4>
    <a:accent5>
      <a:srgbClr val="2733A8"/>
    </a:accent5>
    <a:accent6>
      <a:srgbClr val="19259B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3079</Words>
  <Application>Microsoft Office PowerPoint</Application>
  <PresentationFormat>宽屏</PresentationFormat>
  <Paragraphs>245</Paragraphs>
  <Slides>30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明伯 戴</cp:lastModifiedBy>
  <cp:revision>32</cp:revision>
  <dcterms:created xsi:type="dcterms:W3CDTF">2006-08-16T00:00:00Z</dcterms:created>
  <dcterms:modified xsi:type="dcterms:W3CDTF">2024-11-12T12:19:04Z</dcterms:modified>
</cp:coreProperties>
</file>