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4" r:id="rId8"/>
    <p:sldId id="272" r:id="rId9"/>
    <p:sldId id="260" r:id="rId10"/>
    <p:sldId id="261" r:id="rId11"/>
    <p:sldId id="273" r:id="rId12"/>
    <p:sldId id="274" r:id="rId13"/>
    <p:sldId id="275" r:id="rId14"/>
    <p:sldId id="276" r:id="rId15"/>
    <p:sldId id="277" r:id="rId16"/>
    <p:sldId id="301" r:id="rId17"/>
    <p:sldId id="278" r:id="rId18"/>
    <p:sldId id="302" r:id="rId19"/>
    <p:sldId id="279" r:id="rId20"/>
    <p:sldId id="303" r:id="rId21"/>
    <p:sldId id="304" r:id="rId22"/>
    <p:sldId id="305" r:id="rId23"/>
    <p:sldId id="306" r:id="rId24"/>
    <p:sldId id="313" r:id="rId25"/>
    <p:sldId id="282" r:id="rId26"/>
    <p:sldId id="308" r:id="rId27"/>
    <p:sldId id="299" r:id="rId28"/>
    <p:sldId id="300" r:id="rId29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1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A2B54-6606-476A-9C22-384023786D94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21462-D095-4E59-A8AC-4FBA96965AB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721462-D095-4E59-A8AC-4FBA96965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61753-A387-47D1-8056-3C1B0140E3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6816F-7DAB-4EFC-B6B3-BD5BBF42BBE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ABC027CB-4B16-4B21-A276-8705E54D531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Tm="0"/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A_矩形 37"/>
          <p:cNvSpPr/>
          <p:nvPr>
            <p:custDataLst>
              <p:tags r:id="rId2"/>
            </p:custDataLst>
          </p:nvPr>
        </p:nvSpPr>
        <p:spPr>
          <a:xfrm rot="2700000">
            <a:off x="1881971" y="2790130"/>
            <a:ext cx="1489274" cy="1489277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9" name="PA_矩形 38"/>
          <p:cNvSpPr/>
          <p:nvPr>
            <p:custDataLst>
              <p:tags r:id="rId3"/>
            </p:custDataLst>
          </p:nvPr>
        </p:nvSpPr>
        <p:spPr>
          <a:xfrm rot="2700000">
            <a:off x="932899" y="2963219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42" name="PA_矩形 41"/>
          <p:cNvSpPr/>
          <p:nvPr>
            <p:custDataLst>
              <p:tags r:id="rId4"/>
            </p:custDataLst>
          </p:nvPr>
        </p:nvSpPr>
        <p:spPr>
          <a:xfrm rot="13500000">
            <a:off x="8830661" y="2790130"/>
            <a:ext cx="1489274" cy="1489277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43" name="PA_矩形 42"/>
          <p:cNvSpPr/>
          <p:nvPr>
            <p:custDataLst>
              <p:tags r:id="rId5"/>
            </p:custDataLst>
          </p:nvPr>
        </p:nvSpPr>
        <p:spPr>
          <a:xfrm rot="13500000">
            <a:off x="10125914" y="2963222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4" name="PA_圆角矩形 3"/>
          <p:cNvSpPr/>
          <p:nvPr>
            <p:custDataLst>
              <p:tags r:id="rId6"/>
            </p:custDataLst>
          </p:nvPr>
        </p:nvSpPr>
        <p:spPr>
          <a:xfrm rot="2700000">
            <a:off x="4300148" y="1739713"/>
            <a:ext cx="3590111" cy="3590111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5" name="PA_椭圆 4"/>
          <p:cNvSpPr/>
          <p:nvPr>
            <p:custDataLst>
              <p:tags r:id="rId7"/>
            </p:custDataLst>
          </p:nvPr>
        </p:nvSpPr>
        <p:spPr>
          <a:xfrm>
            <a:off x="3665900" y="1105464"/>
            <a:ext cx="4858608" cy="4858608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0" name="PA_矩形 29"/>
          <p:cNvSpPr/>
          <p:nvPr>
            <p:custDataLst>
              <p:tags r:id="rId8"/>
            </p:custDataLst>
          </p:nvPr>
        </p:nvSpPr>
        <p:spPr>
          <a:xfrm>
            <a:off x="3419692" y="2726494"/>
            <a:ext cx="5498055" cy="1616517"/>
          </a:xfrm>
          <a:prstGeom prst="rect">
            <a:avLst/>
          </a:prstGeom>
          <a:ln>
            <a:noFill/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700">
                <a:solidFill>
                  <a:prstClr val="black">
                    <a:lumMod val="50000"/>
                    <a:lumOff val="50000"/>
                  </a:prstClr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大数据中的算法问题—K-measns算法实践</a:t>
            </a:r>
            <a:endParaRPr lang="zh-CN" altLang="en-US" sz="4700">
              <a:solidFill>
                <a:prstClr val="black">
                  <a:lumMod val="50000"/>
                  <a:lumOff val="50000"/>
                </a:prstClr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31" name="PA_矩形 30"/>
          <p:cNvSpPr/>
          <p:nvPr>
            <p:custDataLst>
              <p:tags r:id="rId9"/>
            </p:custDataLst>
          </p:nvPr>
        </p:nvSpPr>
        <p:spPr>
          <a:xfrm>
            <a:off x="4941334" y="1789200"/>
            <a:ext cx="2011680" cy="82994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800">
                <a:solidFill>
                  <a:srgbClr val="18478F"/>
                </a:solidFill>
                <a:latin typeface="宋体" panose="02010600030101010101" pitchFamily="2" charset="-122"/>
                <a:cs typeface="Open Sans" panose="020B0606030504020204" pitchFamily="34" charset="0"/>
                <a:sym typeface="宋体" panose="02010600030101010101" pitchFamily="2" charset="-122"/>
              </a:rPr>
              <a:t>第五组</a:t>
            </a:r>
            <a:endParaRPr lang="zh-CN" altLang="en-US" sz="4800">
              <a:solidFill>
                <a:srgbClr val="18478F"/>
              </a:solidFill>
              <a:latin typeface="宋体" panose="02010600030101010101" pitchFamily="2" charset="-122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32" name="PA_圆角矩形 31"/>
          <p:cNvSpPr/>
          <p:nvPr>
            <p:custDataLst>
              <p:tags r:id="rId10"/>
            </p:custDataLst>
          </p:nvPr>
        </p:nvSpPr>
        <p:spPr>
          <a:xfrm>
            <a:off x="4941278" y="4858661"/>
            <a:ext cx="2880155" cy="558375"/>
          </a:xfrm>
          <a:prstGeom prst="roundRect">
            <a:avLst>
              <a:gd name="adj" fmla="val 50000"/>
            </a:avLst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>
            <a:r>
              <a:rPr lang="zh-CN" altLang="en-US"/>
              <a:t>    王佳欣 操志平 张入心</a:t>
            </a:r>
            <a:endParaRPr lang="zh-CN" altLang="en-US"/>
          </a:p>
          <a:p>
            <a:r>
              <a:rPr lang="zh-CN" altLang="en-US"/>
              <a:t>             张德香 秦滟</a:t>
            </a:r>
            <a:endParaRPr lang="zh-CN" altLang="en-US"/>
          </a:p>
        </p:txBody>
      </p:sp>
      <p:sp>
        <p:nvSpPr>
          <p:cNvPr id="33" name="PA_矩形 32"/>
          <p:cNvSpPr/>
          <p:nvPr>
            <p:custDataLst>
              <p:tags r:id="rId11"/>
            </p:custDataLst>
          </p:nvPr>
        </p:nvSpPr>
        <p:spPr>
          <a:xfrm>
            <a:off x="4727009" y="4253991"/>
            <a:ext cx="2352861" cy="125625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3" name="PA_组合 2"/>
          <p:cNvGrpSpPr/>
          <p:nvPr>
            <p:custDataLst>
              <p:tags r:id="rId12"/>
            </p:custDataLst>
          </p:nvPr>
        </p:nvGrpSpPr>
        <p:grpSpPr>
          <a:xfrm>
            <a:off x="4218413" y="1840884"/>
            <a:ext cx="3799166" cy="3405278"/>
            <a:chOff x="4218413" y="1840884"/>
            <a:chExt cx="3799166" cy="3405278"/>
          </a:xfrm>
        </p:grpSpPr>
        <p:sp>
          <p:nvSpPr>
            <p:cNvPr id="44" name="椭圆 43"/>
            <p:cNvSpPr/>
            <p:nvPr/>
          </p:nvSpPr>
          <p:spPr>
            <a:xfrm>
              <a:off x="4218413" y="1840884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5" name="椭圆 44"/>
            <p:cNvSpPr/>
            <p:nvPr/>
          </p:nvSpPr>
          <p:spPr>
            <a:xfrm>
              <a:off x="7831128" y="5059711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2" name="PA_组合 1"/>
          <p:cNvGrpSpPr/>
          <p:nvPr>
            <p:custDataLst>
              <p:tags r:id="rId13"/>
            </p:custDataLst>
          </p:nvPr>
        </p:nvGrpSpPr>
        <p:grpSpPr>
          <a:xfrm>
            <a:off x="4221683" y="1840884"/>
            <a:ext cx="3786146" cy="3435128"/>
            <a:chOff x="4221683" y="1840884"/>
            <a:chExt cx="3786146" cy="3435128"/>
          </a:xfrm>
        </p:grpSpPr>
        <p:sp>
          <p:nvSpPr>
            <p:cNvPr id="46" name="椭圆 45"/>
            <p:cNvSpPr/>
            <p:nvPr/>
          </p:nvSpPr>
          <p:spPr>
            <a:xfrm>
              <a:off x="4221683" y="5089561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7" name="椭圆 46"/>
            <p:cNvSpPr/>
            <p:nvPr/>
          </p:nvSpPr>
          <p:spPr>
            <a:xfrm>
              <a:off x="7821378" y="1840884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9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 prLst="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1711 7.40741E-07 L -4.58333E-06 7.40741E-07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5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2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5" presetClass="path" presetSubtype="0" accel="50000" decel="50000" fill="hold" grpId="3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.1711 7.40741E-07 L 2.08333E-06 7.40741E-07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51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4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5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16537 7.40741E-07 L 3.33333E-06 7.40741E-07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6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5" presetClass="path" presetSubtype="0" accel="50000" decel="50000" fill="hold" grpId="7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16537 7.40741E-07 L 3.33333E-06 7.40741E-07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1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1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12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13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dvAuto="0"/>
      <p:bldP spid="38" grpId="1" advAuto="0"/>
      <p:bldP spid="39" grpId="2" advAuto="0"/>
      <p:bldP spid="39" grpId="3" advAuto="0"/>
      <p:bldP spid="42" grpId="4" advAuto="0"/>
      <p:bldP spid="42" grpId="5" advAuto="0"/>
      <p:bldP spid="43" grpId="6" advAuto="0"/>
      <p:bldP spid="43" grpId="7" advAuto="0"/>
      <p:bldP spid="4" grpId="8" advAuto="0"/>
      <p:bldP spid="5" grpId="9" advAuto="0"/>
      <p:bldP spid="30" grpId="10" advAuto="0"/>
      <p:bldP spid="31" grpId="11" advAuto="0"/>
      <p:bldP spid="32" grpId="12" advAuto="0"/>
      <p:bldP spid="33" grpId="13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0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1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 fontScale="25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16000">
                <a:solidFill>
                  <a:srgbClr val="18478F"/>
                </a:solidFill>
                <a:latin typeface="思源黑体 1 Bold" charset="0"/>
                <a:ea typeface="思源黑体 1 Bold" charset="0"/>
                <a:cs typeface="思源黑体 1 Bold" charset="0"/>
                <a:sym typeface="宋体" panose="02010600030101010101" pitchFamily="2" charset="-122"/>
              </a:rPr>
              <a:t>目录</a:t>
            </a:r>
            <a:endParaRPr lang="zh-CN" altLang="en-US" sz="16000">
              <a:solidFill>
                <a:srgbClr val="18478F"/>
              </a:solidFill>
              <a:latin typeface="思源黑体 1 Bold" charset="0"/>
              <a:ea typeface="思源黑体 1 Bold" charset="0"/>
              <a:cs typeface="思源黑体 1 Bold" charset="0"/>
              <a:sym typeface="宋体" panose="02010600030101010101" pitchFamily="2" charset="-122"/>
            </a:endParaRPr>
          </a:p>
        </p:txBody>
      </p:sp>
      <p:sp>
        <p:nvSpPr>
          <p:cNvPr id="32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896620" y="2287905"/>
            <a:ext cx="4814570" cy="618490"/>
          </a:xfrm>
          <a:prstGeom prst="rect">
            <a:avLst/>
          </a:prstGeom>
          <a:ln>
            <a:noFill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1143635" y="2291080"/>
            <a:ext cx="908685" cy="619125"/>
          </a:xfrm>
          <a:prstGeom prst="rect">
            <a:avLst/>
          </a:prstGeom>
          <a:ln>
            <a:noFill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6056630" y="2287905"/>
            <a:ext cx="4814570" cy="618490"/>
          </a:xfrm>
          <a:prstGeom prst="rect">
            <a:avLst/>
          </a:prstGeom>
          <a:ln>
            <a:noFill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6303645" y="2291080"/>
            <a:ext cx="908685" cy="619125"/>
          </a:xfrm>
          <a:prstGeom prst="rect">
            <a:avLst/>
          </a:prstGeom>
          <a:ln>
            <a:noFill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896620" y="3330575"/>
            <a:ext cx="4814570" cy="618490"/>
          </a:xfrm>
          <a:prstGeom prst="rect">
            <a:avLst/>
          </a:prstGeom>
          <a:ln>
            <a:noFill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1143635" y="3333750"/>
            <a:ext cx="908685" cy="619125"/>
          </a:xfrm>
          <a:prstGeom prst="rect">
            <a:avLst/>
          </a:prstGeom>
          <a:ln>
            <a:noFill/>
          </a:ln>
        </p:spPr>
      </p:pic>
      <p:sp>
        <p:nvSpPr>
          <p:cNvPr id="17" name="TextBox 17"/>
          <p:cNvSpPr txBox="1"/>
          <p:nvPr/>
        </p:nvSpPr>
        <p:spPr>
          <a:xfrm>
            <a:off x="1055370" y="2258695"/>
            <a:ext cx="1029970" cy="476250"/>
          </a:xfrm>
          <a:prstGeom prst="rect">
            <a:avLst/>
          </a:prstGeom>
        </p:spPr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1</a:t>
            </a:r>
            <a:endParaRPr lang="zh-CN" sz="3600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207578" y="2394268"/>
            <a:ext cx="2696528" cy="514033"/>
          </a:xfrm>
          <a:prstGeom prst="rect">
            <a:avLst/>
          </a:prstGeom>
        </p:spPr>
        <p:txBody>
          <a:bodyPr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>
              <a:defRPr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fnsystSCBold"/>
                <a:sym typeface="宋体" panose="02010600030101010101" pitchFamily="2" charset="-122"/>
              </a:rPr>
              <a:t>引言与要求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fnsystSCBold"/>
              <a:sym typeface="宋体" panose="02010600030101010101" pitchFamily="2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253480" y="2220595"/>
            <a:ext cx="1029970" cy="469900"/>
          </a:xfrm>
          <a:prstGeom prst="rect">
            <a:avLst/>
          </a:prstGeom>
        </p:spPr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2</a:t>
            </a:r>
            <a:endParaRPr lang="zh-CN" sz="3600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499985" y="2394268"/>
            <a:ext cx="2773998" cy="464503"/>
          </a:xfrm>
          <a:prstGeom prst="rect">
            <a:avLst/>
          </a:prstGeom>
        </p:spPr>
        <p:txBody>
          <a:bodyPr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>
              <a:defRPr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fnsystSCBold"/>
                <a:sym typeface="宋体" panose="02010600030101010101" pitchFamily="2" charset="-122"/>
              </a:rPr>
              <a:t>代码分享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fnsystSCBold"/>
              <a:sym typeface="宋体" panose="02010600030101010101" pitchFamily="2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93470" y="3301365"/>
            <a:ext cx="1029970" cy="476250"/>
          </a:xfrm>
          <a:prstGeom prst="rect">
            <a:avLst/>
          </a:prstGeom>
        </p:spPr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3</a:t>
            </a:r>
            <a:endParaRPr lang="zh-CN" sz="3600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79650" y="3393440"/>
            <a:ext cx="2876868" cy="474028"/>
          </a:xfrm>
          <a:prstGeom prst="rect">
            <a:avLst/>
          </a:prstGeom>
        </p:spPr>
        <p:txBody>
          <a:bodyPr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>
              <a:defRPr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fnsystSCBold"/>
                <a:sym typeface="宋体" panose="02010600030101010101" pitchFamily="2" charset="-122"/>
              </a:rPr>
              <a:t>结果展示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fnsystSCBold"/>
              <a:sym typeface="宋体" panose="02010600030101010101" pitchFamily="2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253480" y="3301365"/>
            <a:ext cx="1029970" cy="476250"/>
          </a:xfrm>
          <a:prstGeom prst="rect">
            <a:avLst/>
          </a:prstGeom>
        </p:spPr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4</a:t>
            </a:r>
            <a:endParaRPr lang="zh-CN" sz="3600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55370" y="4364990"/>
            <a:ext cx="1029970" cy="476250"/>
          </a:xfrm>
          <a:prstGeom prst="rect">
            <a:avLst/>
          </a:prstGeom>
        </p:spPr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5</a:t>
            </a:r>
            <a:endParaRPr lang="zh-CN" sz="3600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36180" y="3393440"/>
            <a:ext cx="2710180" cy="448628"/>
          </a:xfrm>
          <a:prstGeom prst="rect">
            <a:avLst/>
          </a:prstGeom>
        </p:spPr>
        <p:txBody>
          <a:bodyPr rtlCol="0" anchor="t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>
              <a:defRPr/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fnsystSCBold"/>
              <a:sym typeface="宋体" panose="02010600030101010101" pitchFamily="2" charset="-122"/>
            </a:endParaRPr>
          </a:p>
          <a:p>
            <a:pPr algn="l">
              <a:defRPr/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fnsystSCBold"/>
              <a:sym typeface="宋体" panose="02010600030101010101" pitchFamily="2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171700" y="4468178"/>
            <a:ext cx="2673350" cy="544513"/>
          </a:xfrm>
          <a:prstGeom prst="rect">
            <a:avLst/>
          </a:prstGeom>
        </p:spPr>
        <p:txBody>
          <a:bodyPr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>
              <a:defRPr/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fnsystSCBold"/>
              <a:sym typeface="宋体" panose="02010600030101010101" pitchFamily="2" charset="-122"/>
            </a:endParaRPr>
          </a:p>
          <a:p>
            <a:pPr algn="l">
              <a:defRPr/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fnsystSCBold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 rot="2700000">
            <a:off x="5017147" y="2058858"/>
            <a:ext cx="2924529" cy="292452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5" name="椭圆 4"/>
          <p:cNvSpPr/>
          <p:nvPr/>
        </p:nvSpPr>
        <p:spPr>
          <a:xfrm>
            <a:off x="4500484" y="1542194"/>
            <a:ext cx="3957855" cy="3957855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grpSp>
        <p:nvGrpSpPr>
          <p:cNvPr id="7" name="组合 6"/>
          <p:cNvGrpSpPr/>
          <p:nvPr/>
        </p:nvGrpSpPr>
        <p:grpSpPr>
          <a:xfrm>
            <a:off x="4950565" y="2141272"/>
            <a:ext cx="3094826" cy="2773962"/>
            <a:chOff x="4950565" y="2141272"/>
            <a:chExt cx="3094826" cy="2773962"/>
          </a:xfrm>
        </p:grpSpPr>
        <p:sp>
          <p:nvSpPr>
            <p:cNvPr id="44" name="椭圆 43"/>
            <p:cNvSpPr/>
            <p:nvPr/>
          </p:nvSpPr>
          <p:spPr>
            <a:xfrm>
              <a:off x="4950565" y="2141272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5" name="椭圆 44"/>
            <p:cNvSpPr/>
            <p:nvPr/>
          </p:nvSpPr>
          <p:spPr>
            <a:xfrm>
              <a:off x="7893507" y="4763350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6" name="组合 5"/>
          <p:cNvGrpSpPr/>
          <p:nvPr/>
        </p:nvGrpSpPr>
        <p:grpSpPr>
          <a:xfrm>
            <a:off x="4953229" y="2141272"/>
            <a:ext cx="3084220" cy="2798278"/>
            <a:chOff x="4953229" y="2141272"/>
            <a:chExt cx="3084220" cy="2798278"/>
          </a:xfrm>
        </p:grpSpPr>
        <p:sp>
          <p:nvSpPr>
            <p:cNvPr id="46" name="椭圆 45"/>
            <p:cNvSpPr/>
            <p:nvPr/>
          </p:nvSpPr>
          <p:spPr>
            <a:xfrm>
              <a:off x="4953229" y="4787666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7" name="椭圆 46"/>
            <p:cNvSpPr/>
            <p:nvPr/>
          </p:nvSpPr>
          <p:spPr>
            <a:xfrm>
              <a:off x="7885565" y="2141272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20" name="矩形 19"/>
          <p:cNvSpPr/>
          <p:nvPr/>
        </p:nvSpPr>
        <p:spPr>
          <a:xfrm>
            <a:off x="4834436" y="2892233"/>
            <a:ext cx="3210955" cy="1334933"/>
          </a:xfrm>
          <a:prstGeom prst="rect">
            <a:avLst/>
          </a:prstGeom>
          <a:ln>
            <a:noFill/>
          </a:ln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8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引言与要求</a:t>
            </a:r>
            <a:endParaRPr lang="zh-CN" altLang="en-US" sz="28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 rot="13500000">
            <a:off x="3197913" y="2850072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3" name="矩形 22"/>
          <p:cNvSpPr/>
          <p:nvPr/>
        </p:nvSpPr>
        <p:spPr>
          <a:xfrm>
            <a:off x="3513525" y="3033286"/>
            <a:ext cx="422875" cy="82378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4800">
                <a:solidFill>
                  <a:prstClr val="white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1</a:t>
            </a:r>
            <a:endParaRPr lang="zh-CN" altLang="zh-CN" sz="4800">
              <a:solidFill>
                <a:prstClr val="white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 prLst="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4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1711 7.40741E-07 L -4.58333E-06 7.40741E-07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5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5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dvAuto="0"/>
      <p:bldP spid="5" grpId="1" advAuto="0"/>
      <p:bldP spid="20" grpId="2" advAuto="0"/>
      <p:bldP spid="22" grpId="3" advAuto="0"/>
      <p:bldP spid="22" grpId="4" advAuto="0"/>
      <p:bldP spid="23" grpId="5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6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7" name="矩形 25"/>
          <p:cNvSpPr/>
          <p:nvPr/>
        </p:nvSpPr>
        <p:spPr>
          <a:xfrm>
            <a:off x="1935445" y="393958"/>
            <a:ext cx="9922258" cy="105221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/>
            <a:r>
              <a:rPr lang="en-US" altLang="zh-CN" sz="40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1.</a:t>
            </a:r>
            <a:r>
              <a:rPr lang="zh-CN" altLang="en-US" sz="40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引言与要求</a:t>
            </a:r>
            <a:endParaRPr lang="zh-CN" altLang="en-US" sz="40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8" name="圆角矩形 14"/>
          <p:cNvSpPr/>
          <p:nvPr/>
        </p:nvSpPr>
        <p:spPr>
          <a:xfrm rot="2700000">
            <a:off x="382987" y="512997"/>
            <a:ext cx="817684" cy="55649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>
            <a:r>
              <a:rPr lang="zh-CN" altLang="en-US"/>
              <a:t>一</a:t>
            </a:r>
            <a:r>
              <a:rPr lang="en-US" altLang="zh-CN"/>
              <a:t>111</a:t>
            </a:r>
            <a:endParaRPr lang="en-US" altLang="zh-CN"/>
          </a:p>
        </p:txBody>
      </p:sp>
      <p:cxnSp>
        <p:nvCxnSpPr>
          <p:cNvPr id="4" name="直接连接符 6"/>
          <p:cNvCxnSpPr>
            <a:cxnSpLocks noChangeShapeType="1"/>
          </p:cNvCxnSpPr>
          <p:nvPr/>
        </p:nvCxnSpPr>
        <p:spPr>
          <a:xfrm>
            <a:off x="791908" y="1960626"/>
            <a:ext cx="0" cy="3505200"/>
          </a:xfrm>
          <a:prstGeom prst="line">
            <a:avLst/>
          </a:prstGeom>
          <a:noFill/>
          <a:ln w="6350">
            <a:solidFill>
              <a:srgbClr val="ADBAC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圆角矩形 7"/>
          <p:cNvSpPr>
            <a:spLocks noChangeArrowheads="1"/>
          </p:cNvSpPr>
          <p:nvPr/>
        </p:nvSpPr>
        <p:spPr>
          <a:xfrm>
            <a:off x="791909" y="1851025"/>
            <a:ext cx="10668254" cy="4714875"/>
          </a:xfrm>
          <a:prstGeom prst="roundRect">
            <a:avLst>
              <a:gd name="adj" fmla="val 9083"/>
            </a:avLst>
          </a:prstGeom>
          <a:noFill/>
          <a:ln w="12700">
            <a:solidFill>
              <a:srgbClr val="96969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/>
        </p:txBody>
      </p:sp>
      <p:sp>
        <p:nvSpPr>
          <p:cNvPr id="6" name="矩形 8"/>
          <p:cNvSpPr>
            <a:spLocks noChangeArrowheads="1"/>
          </p:cNvSpPr>
          <p:nvPr/>
        </p:nvSpPr>
        <p:spPr>
          <a:xfrm>
            <a:off x="791909" y="2422589"/>
            <a:ext cx="10668191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25000"/>
          </a:bodyPr>
          <a:lstStyle>
            <a:defPPr>
              <a:defRPr lang="zh-CN"/>
            </a:defPPr>
            <a:lvl1pPr marL="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1216025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1216025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1216025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 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-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means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算法，也被称为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-均值或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-平均。</a:t>
            </a:r>
            <a:endParaRPr lang="zh-CN" altLang="en-US" sz="9600">
              <a:solidFill>
                <a:srgbClr val="44546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该算法首先随机地选择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个对象作为初始的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个簇的质心；然后对剩余的每个对象，根据其与各个质心的距离，将它赋给最近的簇，然后重新计算每个簇的质心；这个过程不断重复，直到准则函数收敛。</a:t>
            </a:r>
            <a:endParaRPr lang="zh-CN" altLang="en-US" sz="9600">
              <a:solidFill>
                <a:srgbClr val="44546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通常采用的准则函数为平方误差和准则函数，即 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SSE(sum of the squared error)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，其定义如下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:</a:t>
            </a:r>
            <a:endParaRPr lang="zh-CN" altLang="en-US" sz="9600">
              <a:solidFill>
                <a:srgbClr val="44546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endParaRPr lang="zh-CN" altLang="en-US" sz="9600">
              <a:solidFill>
                <a:srgbClr val="44546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endParaRPr lang="en-US" altLang="zh-CN" sz="9600">
              <a:solidFill>
                <a:srgbClr val="44546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SSE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是数据库中所有对象的平方误差总和，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p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为数据对象，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mi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是簇</a:t>
            </a:r>
            <a:r>
              <a:rPr lang="en-US" altLang="zh-CN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Ci</a:t>
            </a:r>
            <a:r>
              <a:rPr lang="zh-CN" altLang="en-US" sz="9600">
                <a:solidFill>
                  <a:srgbClr val="44546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的平均值。这个准则函数使生成的结果尽可能的紧凑和独立。</a:t>
            </a:r>
            <a:endParaRPr lang="zh-CN" altLang="en-US" sz="9600">
              <a:solidFill>
                <a:srgbClr val="44546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7" name="圆角矩形 10"/>
          <p:cNvSpPr>
            <a:spLocks noChangeArrowheads="1"/>
          </p:cNvSpPr>
          <p:nvPr/>
        </p:nvSpPr>
        <p:spPr>
          <a:xfrm>
            <a:off x="791908" y="1277112"/>
            <a:ext cx="1508125" cy="683514"/>
          </a:xfrm>
          <a:prstGeom prst="roundRect">
            <a:avLst>
              <a:gd name="adj" fmla="val 16667"/>
            </a:avLst>
          </a:prstGeom>
          <a:solidFill>
            <a:srgbClr val="305896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</a:p>
        </p:txBody>
      </p:sp>
      <p:sp>
        <p:nvSpPr>
          <p:cNvPr id="8" name="文本框 11"/>
          <p:cNvSpPr txBox="1">
            <a:spLocks noChangeArrowheads="1"/>
          </p:cNvSpPr>
          <p:nvPr/>
        </p:nvSpPr>
        <p:spPr>
          <a:xfrm>
            <a:off x="178968" y="1446086"/>
            <a:ext cx="2804363" cy="97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1216025" rtl="0" eaLnBrk="0" latinLnBrk="0" hangingPunct="0"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1216025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1216025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1216025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算法思想</a:t>
            </a:r>
            <a:endParaRPr lang="zh-CN" altLang="en-US" sz="2000" b="1">
              <a:solidFill>
                <a:schemeClr val="bg1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13" name="图片 12" descr="upload_post_object_v2_13660402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774" y="4462462"/>
            <a:ext cx="3199298" cy="1003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dvAuto="0"/>
      <p:bldP spid="6" grpId="1" advAuto="0"/>
      <p:bldP spid="7" grpId="2" advAuto="0"/>
      <p:bldP spid="8" grpId="3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9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0" name="矩形 25"/>
          <p:cNvSpPr/>
          <p:nvPr/>
        </p:nvSpPr>
        <p:spPr>
          <a:xfrm>
            <a:off x="1935445" y="393958"/>
            <a:ext cx="9922258" cy="97601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/>
            <a:r>
              <a:rPr lang="en-US" altLang="zh-CN" sz="32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 sz="32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-</a:t>
            </a:r>
            <a:r>
              <a:rPr lang="en-US" altLang="zh-CN" sz="32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means</a:t>
            </a:r>
            <a:r>
              <a:rPr lang="zh-CN" altLang="en-US" sz="32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算法描述</a:t>
            </a:r>
            <a:endParaRPr lang="zh-CN" altLang="en-US" sz="32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1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2" name="Freeform 6"/>
          <p:cNvSpPr/>
          <p:nvPr/>
        </p:nvSpPr>
        <p:spPr>
          <a:xfrm>
            <a:off x="984251" y="1195578"/>
            <a:ext cx="3251200" cy="5369433"/>
          </a:xfrm>
          <a:custGeom>
            <a:avLst/>
            <a:gdLst>
              <a:gd name="T0" fmla="*/ 30 w 110"/>
              <a:gd name="T1" fmla="*/ 107 h 110"/>
              <a:gd name="T2" fmla="*/ 3 w 110"/>
              <a:gd name="T3" fmla="*/ 80 h 110"/>
              <a:gd name="T4" fmla="*/ 0 w 110"/>
              <a:gd name="T5" fmla="*/ 73 h 110"/>
              <a:gd name="T6" fmla="*/ 0 w 110"/>
              <a:gd name="T7" fmla="*/ 36 h 110"/>
              <a:gd name="T8" fmla="*/ 3 w 110"/>
              <a:gd name="T9" fmla="*/ 29 h 110"/>
              <a:gd name="T10" fmla="*/ 30 w 110"/>
              <a:gd name="T11" fmla="*/ 3 h 110"/>
              <a:gd name="T12" fmla="*/ 37 w 110"/>
              <a:gd name="T13" fmla="*/ 0 h 110"/>
              <a:gd name="T14" fmla="*/ 74 w 110"/>
              <a:gd name="T15" fmla="*/ 0 h 110"/>
              <a:gd name="T16" fmla="*/ 81 w 110"/>
              <a:gd name="T17" fmla="*/ 3 h 110"/>
              <a:gd name="T18" fmla="*/ 107 w 110"/>
              <a:gd name="T19" fmla="*/ 29 h 110"/>
              <a:gd name="T20" fmla="*/ 110 w 110"/>
              <a:gd name="T21" fmla="*/ 36 h 110"/>
              <a:gd name="T22" fmla="*/ 110 w 110"/>
              <a:gd name="T23" fmla="*/ 73 h 110"/>
              <a:gd name="T24" fmla="*/ 107 w 110"/>
              <a:gd name="T25" fmla="*/ 80 h 110"/>
              <a:gd name="T26" fmla="*/ 81 w 110"/>
              <a:gd name="T27" fmla="*/ 107 h 110"/>
              <a:gd name="T28" fmla="*/ 74 w 110"/>
              <a:gd name="T29" fmla="*/ 110 h 110"/>
              <a:gd name="T30" fmla="*/ 37 w 110"/>
              <a:gd name="T31" fmla="*/ 110 h 110"/>
              <a:gd name="T32" fmla="*/ 30 w 110"/>
              <a:gd name="T33" fmla="*/ 107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0" h="110">
                <a:moveTo>
                  <a:pt x="30" y="107"/>
                </a:moveTo>
                <a:cubicBezTo>
                  <a:pt x="3" y="80"/>
                  <a:pt x="3" y="80"/>
                  <a:pt x="3" y="80"/>
                </a:cubicBezTo>
                <a:cubicBezTo>
                  <a:pt x="1" y="78"/>
                  <a:pt x="0" y="76"/>
                  <a:pt x="0" y="73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3"/>
                  <a:pt x="1" y="31"/>
                  <a:pt x="3" y="29"/>
                </a:cubicBezTo>
                <a:cubicBezTo>
                  <a:pt x="30" y="3"/>
                  <a:pt x="30" y="3"/>
                  <a:pt x="30" y="3"/>
                </a:cubicBezTo>
                <a:cubicBezTo>
                  <a:pt x="31" y="1"/>
                  <a:pt x="34" y="0"/>
                  <a:pt x="37" y="0"/>
                </a:cubicBezTo>
                <a:cubicBezTo>
                  <a:pt x="74" y="0"/>
                  <a:pt x="74" y="0"/>
                  <a:pt x="74" y="0"/>
                </a:cubicBezTo>
                <a:cubicBezTo>
                  <a:pt x="77" y="0"/>
                  <a:pt x="79" y="1"/>
                  <a:pt x="81" y="3"/>
                </a:cubicBezTo>
                <a:cubicBezTo>
                  <a:pt x="107" y="29"/>
                  <a:pt x="107" y="29"/>
                  <a:pt x="107" y="29"/>
                </a:cubicBezTo>
                <a:cubicBezTo>
                  <a:pt x="109" y="31"/>
                  <a:pt x="110" y="33"/>
                  <a:pt x="110" y="36"/>
                </a:cubicBezTo>
                <a:cubicBezTo>
                  <a:pt x="110" y="73"/>
                  <a:pt x="110" y="73"/>
                  <a:pt x="110" y="73"/>
                </a:cubicBezTo>
                <a:cubicBezTo>
                  <a:pt x="110" y="76"/>
                  <a:pt x="109" y="78"/>
                  <a:pt x="107" y="80"/>
                </a:cubicBezTo>
                <a:cubicBezTo>
                  <a:pt x="81" y="107"/>
                  <a:pt x="81" y="107"/>
                  <a:pt x="81" y="107"/>
                </a:cubicBezTo>
                <a:cubicBezTo>
                  <a:pt x="79" y="109"/>
                  <a:pt x="77" y="110"/>
                  <a:pt x="74" y="110"/>
                </a:cubicBezTo>
                <a:cubicBezTo>
                  <a:pt x="37" y="110"/>
                  <a:pt x="37" y="110"/>
                  <a:pt x="37" y="110"/>
                </a:cubicBezTo>
                <a:cubicBezTo>
                  <a:pt x="34" y="110"/>
                  <a:pt x="31" y="109"/>
                  <a:pt x="30" y="107"/>
                </a:cubicBezTo>
                <a:close/>
              </a:path>
            </a:pathLst>
          </a:custGeom>
          <a:noFill/>
          <a:ln w="25400" cap="flat">
            <a:solidFill>
              <a:srgbClr val="305896"/>
            </a:solidFill>
            <a:miter lim="400000"/>
          </a:ln>
          <a:effectLst>
            <a:outerShdw blurRad="190500" dist="127000" dir="5400000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3" name="Freeform 7"/>
          <p:cNvSpPr/>
          <p:nvPr/>
        </p:nvSpPr>
        <p:spPr>
          <a:xfrm>
            <a:off x="1605492" y="1195578"/>
            <a:ext cx="2008716" cy="1035051"/>
          </a:xfrm>
          <a:custGeom>
            <a:avLst/>
            <a:gdLst>
              <a:gd name="T0" fmla="*/ 60 w 68"/>
              <a:gd name="T1" fmla="*/ 3 h 35"/>
              <a:gd name="T2" fmla="*/ 53 w 68"/>
              <a:gd name="T3" fmla="*/ 0 h 35"/>
              <a:gd name="T4" fmla="*/ 16 w 68"/>
              <a:gd name="T5" fmla="*/ 0 h 35"/>
              <a:gd name="T6" fmla="*/ 9 w 68"/>
              <a:gd name="T7" fmla="*/ 3 h 35"/>
              <a:gd name="T8" fmla="*/ 0 w 68"/>
              <a:gd name="T9" fmla="*/ 11 h 35"/>
              <a:gd name="T10" fmla="*/ 5 w 68"/>
              <a:gd name="T11" fmla="*/ 11 h 35"/>
              <a:gd name="T12" fmla="*/ 9 w 68"/>
              <a:gd name="T13" fmla="*/ 14 h 35"/>
              <a:gd name="T14" fmla="*/ 34 w 68"/>
              <a:gd name="T15" fmla="*/ 35 h 35"/>
              <a:gd name="T16" fmla="*/ 60 w 68"/>
              <a:gd name="T17" fmla="*/ 14 h 35"/>
              <a:gd name="T18" fmla="*/ 64 w 68"/>
              <a:gd name="T19" fmla="*/ 11 h 35"/>
              <a:gd name="T20" fmla="*/ 68 w 68"/>
              <a:gd name="T21" fmla="*/ 11 h 35"/>
              <a:gd name="T22" fmla="*/ 60 w 68"/>
              <a:gd name="T23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8" h="35">
                <a:moveTo>
                  <a:pt x="60" y="3"/>
                </a:moveTo>
                <a:cubicBezTo>
                  <a:pt x="58" y="1"/>
                  <a:pt x="56" y="0"/>
                  <a:pt x="53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3" y="0"/>
                  <a:pt x="10" y="1"/>
                  <a:pt x="9" y="3"/>
                </a:cubicBezTo>
                <a:cubicBezTo>
                  <a:pt x="0" y="11"/>
                  <a:pt x="0" y="11"/>
                  <a:pt x="0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7" y="11"/>
                  <a:pt x="8" y="12"/>
                  <a:pt x="9" y="14"/>
                </a:cubicBezTo>
                <a:cubicBezTo>
                  <a:pt x="11" y="26"/>
                  <a:pt x="22" y="35"/>
                  <a:pt x="34" y="35"/>
                </a:cubicBezTo>
                <a:cubicBezTo>
                  <a:pt x="47" y="35"/>
                  <a:pt x="57" y="26"/>
                  <a:pt x="60" y="14"/>
                </a:cubicBezTo>
                <a:cubicBezTo>
                  <a:pt x="60" y="12"/>
                  <a:pt x="62" y="11"/>
                  <a:pt x="64" y="11"/>
                </a:cubicBezTo>
                <a:cubicBezTo>
                  <a:pt x="68" y="11"/>
                  <a:pt x="68" y="11"/>
                  <a:pt x="68" y="11"/>
                </a:cubicBezTo>
                <a:lnTo>
                  <a:pt x="60" y="3"/>
                </a:lnTo>
                <a:close/>
              </a:path>
            </a:pathLst>
          </a:custGeom>
          <a:solidFill>
            <a:srgbClr val="305896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4" name="TextBox 24"/>
          <p:cNvSpPr txBox="1"/>
          <p:nvPr/>
        </p:nvSpPr>
        <p:spPr>
          <a:xfrm>
            <a:off x="1935480" y="1195578"/>
            <a:ext cx="140725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50000"/>
              </a:lnSpc>
            </a:pPr>
            <a:r>
              <a:rPr lang="en-US" altLang="zh-CN"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1</a:t>
            </a:r>
            <a:endParaRPr lang="zh-CN" altLang="zh-CN" sz="4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1159151" y="2230565"/>
            <a:ext cx="2904302" cy="4334447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defPPr>
              <a:defRPr lang="zh-CN"/>
            </a:defPPr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给定大小为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n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的数据集，令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I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=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1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，选取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个初始聚类中心 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Zj(I)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j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=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1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，…，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；</a:t>
            </a:r>
            <a:endParaRPr lang="zh-CN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6" name="Freeform 6"/>
          <p:cNvSpPr/>
          <p:nvPr/>
        </p:nvSpPr>
        <p:spPr>
          <a:xfrm>
            <a:off x="4394200" y="1195578"/>
            <a:ext cx="3251200" cy="5369433"/>
          </a:xfrm>
          <a:custGeom>
            <a:avLst/>
            <a:gdLst>
              <a:gd name="T0" fmla="*/ 30 w 110"/>
              <a:gd name="T1" fmla="*/ 107 h 110"/>
              <a:gd name="T2" fmla="*/ 3 w 110"/>
              <a:gd name="T3" fmla="*/ 80 h 110"/>
              <a:gd name="T4" fmla="*/ 0 w 110"/>
              <a:gd name="T5" fmla="*/ 73 h 110"/>
              <a:gd name="T6" fmla="*/ 0 w 110"/>
              <a:gd name="T7" fmla="*/ 36 h 110"/>
              <a:gd name="T8" fmla="*/ 3 w 110"/>
              <a:gd name="T9" fmla="*/ 29 h 110"/>
              <a:gd name="T10" fmla="*/ 30 w 110"/>
              <a:gd name="T11" fmla="*/ 3 h 110"/>
              <a:gd name="T12" fmla="*/ 37 w 110"/>
              <a:gd name="T13" fmla="*/ 0 h 110"/>
              <a:gd name="T14" fmla="*/ 74 w 110"/>
              <a:gd name="T15" fmla="*/ 0 h 110"/>
              <a:gd name="T16" fmla="*/ 81 w 110"/>
              <a:gd name="T17" fmla="*/ 3 h 110"/>
              <a:gd name="T18" fmla="*/ 107 w 110"/>
              <a:gd name="T19" fmla="*/ 29 h 110"/>
              <a:gd name="T20" fmla="*/ 110 w 110"/>
              <a:gd name="T21" fmla="*/ 36 h 110"/>
              <a:gd name="T22" fmla="*/ 110 w 110"/>
              <a:gd name="T23" fmla="*/ 73 h 110"/>
              <a:gd name="T24" fmla="*/ 107 w 110"/>
              <a:gd name="T25" fmla="*/ 80 h 110"/>
              <a:gd name="T26" fmla="*/ 81 w 110"/>
              <a:gd name="T27" fmla="*/ 107 h 110"/>
              <a:gd name="T28" fmla="*/ 74 w 110"/>
              <a:gd name="T29" fmla="*/ 110 h 110"/>
              <a:gd name="T30" fmla="*/ 37 w 110"/>
              <a:gd name="T31" fmla="*/ 110 h 110"/>
              <a:gd name="T32" fmla="*/ 30 w 110"/>
              <a:gd name="T33" fmla="*/ 107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0" h="110">
                <a:moveTo>
                  <a:pt x="30" y="107"/>
                </a:moveTo>
                <a:cubicBezTo>
                  <a:pt x="3" y="80"/>
                  <a:pt x="3" y="80"/>
                  <a:pt x="3" y="80"/>
                </a:cubicBezTo>
                <a:cubicBezTo>
                  <a:pt x="1" y="78"/>
                  <a:pt x="0" y="76"/>
                  <a:pt x="0" y="73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3"/>
                  <a:pt x="1" y="31"/>
                  <a:pt x="3" y="29"/>
                </a:cubicBezTo>
                <a:cubicBezTo>
                  <a:pt x="30" y="3"/>
                  <a:pt x="30" y="3"/>
                  <a:pt x="30" y="3"/>
                </a:cubicBezTo>
                <a:cubicBezTo>
                  <a:pt x="31" y="1"/>
                  <a:pt x="34" y="0"/>
                  <a:pt x="37" y="0"/>
                </a:cubicBezTo>
                <a:cubicBezTo>
                  <a:pt x="74" y="0"/>
                  <a:pt x="74" y="0"/>
                  <a:pt x="74" y="0"/>
                </a:cubicBezTo>
                <a:cubicBezTo>
                  <a:pt x="77" y="0"/>
                  <a:pt x="79" y="1"/>
                  <a:pt x="81" y="3"/>
                </a:cubicBezTo>
                <a:cubicBezTo>
                  <a:pt x="107" y="29"/>
                  <a:pt x="107" y="29"/>
                  <a:pt x="107" y="29"/>
                </a:cubicBezTo>
                <a:cubicBezTo>
                  <a:pt x="109" y="31"/>
                  <a:pt x="110" y="33"/>
                  <a:pt x="110" y="36"/>
                </a:cubicBezTo>
                <a:cubicBezTo>
                  <a:pt x="110" y="73"/>
                  <a:pt x="110" y="73"/>
                  <a:pt x="110" y="73"/>
                </a:cubicBezTo>
                <a:cubicBezTo>
                  <a:pt x="110" y="76"/>
                  <a:pt x="109" y="78"/>
                  <a:pt x="107" y="80"/>
                </a:cubicBezTo>
                <a:cubicBezTo>
                  <a:pt x="81" y="107"/>
                  <a:pt x="81" y="107"/>
                  <a:pt x="81" y="107"/>
                </a:cubicBezTo>
                <a:cubicBezTo>
                  <a:pt x="79" y="109"/>
                  <a:pt x="77" y="110"/>
                  <a:pt x="74" y="110"/>
                </a:cubicBezTo>
                <a:cubicBezTo>
                  <a:pt x="37" y="110"/>
                  <a:pt x="37" y="110"/>
                  <a:pt x="37" y="110"/>
                </a:cubicBezTo>
                <a:cubicBezTo>
                  <a:pt x="34" y="110"/>
                  <a:pt x="31" y="109"/>
                  <a:pt x="30" y="107"/>
                </a:cubicBezTo>
                <a:close/>
              </a:path>
            </a:pathLst>
          </a:custGeom>
          <a:noFill/>
          <a:ln w="25400" cap="flat">
            <a:solidFill>
              <a:srgbClr val="305896"/>
            </a:solidFill>
            <a:miter lim="400000"/>
          </a:ln>
          <a:effectLst>
            <a:outerShdw blurRad="190500" dist="127000" dir="5400000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7" name="Freeform 7"/>
          <p:cNvSpPr/>
          <p:nvPr/>
        </p:nvSpPr>
        <p:spPr>
          <a:xfrm>
            <a:off x="5015442" y="1195578"/>
            <a:ext cx="2008716" cy="1035051"/>
          </a:xfrm>
          <a:custGeom>
            <a:avLst/>
            <a:gdLst>
              <a:gd name="T0" fmla="*/ 60 w 68"/>
              <a:gd name="T1" fmla="*/ 3 h 35"/>
              <a:gd name="T2" fmla="*/ 53 w 68"/>
              <a:gd name="T3" fmla="*/ 0 h 35"/>
              <a:gd name="T4" fmla="*/ 16 w 68"/>
              <a:gd name="T5" fmla="*/ 0 h 35"/>
              <a:gd name="T6" fmla="*/ 9 w 68"/>
              <a:gd name="T7" fmla="*/ 3 h 35"/>
              <a:gd name="T8" fmla="*/ 0 w 68"/>
              <a:gd name="T9" fmla="*/ 11 h 35"/>
              <a:gd name="T10" fmla="*/ 5 w 68"/>
              <a:gd name="T11" fmla="*/ 11 h 35"/>
              <a:gd name="T12" fmla="*/ 9 w 68"/>
              <a:gd name="T13" fmla="*/ 14 h 35"/>
              <a:gd name="T14" fmla="*/ 34 w 68"/>
              <a:gd name="T15" fmla="*/ 35 h 35"/>
              <a:gd name="T16" fmla="*/ 60 w 68"/>
              <a:gd name="T17" fmla="*/ 14 h 35"/>
              <a:gd name="T18" fmla="*/ 64 w 68"/>
              <a:gd name="T19" fmla="*/ 11 h 35"/>
              <a:gd name="T20" fmla="*/ 68 w 68"/>
              <a:gd name="T21" fmla="*/ 11 h 35"/>
              <a:gd name="T22" fmla="*/ 60 w 68"/>
              <a:gd name="T23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8" h="35">
                <a:moveTo>
                  <a:pt x="60" y="3"/>
                </a:moveTo>
                <a:cubicBezTo>
                  <a:pt x="58" y="1"/>
                  <a:pt x="56" y="0"/>
                  <a:pt x="53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3" y="0"/>
                  <a:pt x="10" y="1"/>
                  <a:pt x="9" y="3"/>
                </a:cubicBezTo>
                <a:cubicBezTo>
                  <a:pt x="0" y="11"/>
                  <a:pt x="0" y="11"/>
                  <a:pt x="0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7" y="11"/>
                  <a:pt x="8" y="12"/>
                  <a:pt x="9" y="14"/>
                </a:cubicBezTo>
                <a:cubicBezTo>
                  <a:pt x="11" y="26"/>
                  <a:pt x="22" y="35"/>
                  <a:pt x="34" y="35"/>
                </a:cubicBezTo>
                <a:cubicBezTo>
                  <a:pt x="47" y="35"/>
                  <a:pt x="57" y="26"/>
                  <a:pt x="60" y="14"/>
                </a:cubicBezTo>
                <a:cubicBezTo>
                  <a:pt x="60" y="12"/>
                  <a:pt x="62" y="11"/>
                  <a:pt x="64" y="11"/>
                </a:cubicBezTo>
                <a:cubicBezTo>
                  <a:pt x="68" y="11"/>
                  <a:pt x="68" y="11"/>
                  <a:pt x="68" y="11"/>
                </a:cubicBezTo>
                <a:lnTo>
                  <a:pt x="60" y="3"/>
                </a:lnTo>
                <a:close/>
              </a:path>
            </a:pathLst>
          </a:custGeom>
          <a:solidFill>
            <a:srgbClr val="305896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9" name="Subtitle 2"/>
          <p:cNvSpPr txBox="1"/>
          <p:nvPr/>
        </p:nvSpPr>
        <p:spPr>
          <a:xfrm>
            <a:off x="4569101" y="2230564"/>
            <a:ext cx="2960370" cy="4983218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defPPr>
              <a:defRPr lang="zh-CN"/>
            </a:defPPr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计算每个数据对象与聚类中心的距离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D(xi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Zj(I))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 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i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=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1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…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n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j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=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l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，…，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如果满足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D(xi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Zk(I)) 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=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min{D(xi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Zj(I)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i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=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l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 …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n}        </a:t>
            </a:r>
            <a:endParaRPr lang="en-US" altLang="zh-CN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      则 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xi∈C k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；</a:t>
            </a:r>
            <a:endParaRPr lang="zh-CN" altLang="zh-CN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20" name="Freeform 6"/>
          <p:cNvSpPr/>
          <p:nvPr/>
        </p:nvSpPr>
        <p:spPr>
          <a:xfrm>
            <a:off x="7804151" y="1195578"/>
            <a:ext cx="3251200" cy="5369433"/>
          </a:xfrm>
          <a:custGeom>
            <a:avLst/>
            <a:gdLst>
              <a:gd name="T0" fmla="*/ 30 w 110"/>
              <a:gd name="T1" fmla="*/ 107 h 110"/>
              <a:gd name="T2" fmla="*/ 3 w 110"/>
              <a:gd name="T3" fmla="*/ 80 h 110"/>
              <a:gd name="T4" fmla="*/ 0 w 110"/>
              <a:gd name="T5" fmla="*/ 73 h 110"/>
              <a:gd name="T6" fmla="*/ 0 w 110"/>
              <a:gd name="T7" fmla="*/ 36 h 110"/>
              <a:gd name="T8" fmla="*/ 3 w 110"/>
              <a:gd name="T9" fmla="*/ 29 h 110"/>
              <a:gd name="T10" fmla="*/ 30 w 110"/>
              <a:gd name="T11" fmla="*/ 3 h 110"/>
              <a:gd name="T12" fmla="*/ 37 w 110"/>
              <a:gd name="T13" fmla="*/ 0 h 110"/>
              <a:gd name="T14" fmla="*/ 74 w 110"/>
              <a:gd name="T15" fmla="*/ 0 h 110"/>
              <a:gd name="T16" fmla="*/ 81 w 110"/>
              <a:gd name="T17" fmla="*/ 3 h 110"/>
              <a:gd name="T18" fmla="*/ 107 w 110"/>
              <a:gd name="T19" fmla="*/ 29 h 110"/>
              <a:gd name="T20" fmla="*/ 110 w 110"/>
              <a:gd name="T21" fmla="*/ 36 h 110"/>
              <a:gd name="T22" fmla="*/ 110 w 110"/>
              <a:gd name="T23" fmla="*/ 73 h 110"/>
              <a:gd name="T24" fmla="*/ 107 w 110"/>
              <a:gd name="T25" fmla="*/ 80 h 110"/>
              <a:gd name="T26" fmla="*/ 81 w 110"/>
              <a:gd name="T27" fmla="*/ 107 h 110"/>
              <a:gd name="T28" fmla="*/ 74 w 110"/>
              <a:gd name="T29" fmla="*/ 110 h 110"/>
              <a:gd name="T30" fmla="*/ 37 w 110"/>
              <a:gd name="T31" fmla="*/ 110 h 110"/>
              <a:gd name="T32" fmla="*/ 30 w 110"/>
              <a:gd name="T33" fmla="*/ 107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0" h="110">
                <a:moveTo>
                  <a:pt x="30" y="107"/>
                </a:moveTo>
                <a:cubicBezTo>
                  <a:pt x="3" y="80"/>
                  <a:pt x="3" y="80"/>
                  <a:pt x="3" y="80"/>
                </a:cubicBezTo>
                <a:cubicBezTo>
                  <a:pt x="1" y="78"/>
                  <a:pt x="0" y="76"/>
                  <a:pt x="0" y="73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3"/>
                  <a:pt x="1" y="31"/>
                  <a:pt x="3" y="29"/>
                </a:cubicBezTo>
                <a:cubicBezTo>
                  <a:pt x="30" y="3"/>
                  <a:pt x="30" y="3"/>
                  <a:pt x="30" y="3"/>
                </a:cubicBezTo>
                <a:cubicBezTo>
                  <a:pt x="31" y="1"/>
                  <a:pt x="34" y="0"/>
                  <a:pt x="37" y="0"/>
                </a:cubicBezTo>
                <a:cubicBezTo>
                  <a:pt x="74" y="0"/>
                  <a:pt x="74" y="0"/>
                  <a:pt x="74" y="0"/>
                </a:cubicBezTo>
                <a:cubicBezTo>
                  <a:pt x="77" y="0"/>
                  <a:pt x="79" y="1"/>
                  <a:pt x="81" y="3"/>
                </a:cubicBezTo>
                <a:cubicBezTo>
                  <a:pt x="107" y="29"/>
                  <a:pt x="107" y="29"/>
                  <a:pt x="107" y="29"/>
                </a:cubicBezTo>
                <a:cubicBezTo>
                  <a:pt x="109" y="31"/>
                  <a:pt x="110" y="33"/>
                  <a:pt x="110" y="36"/>
                </a:cubicBezTo>
                <a:cubicBezTo>
                  <a:pt x="110" y="73"/>
                  <a:pt x="110" y="73"/>
                  <a:pt x="110" y="73"/>
                </a:cubicBezTo>
                <a:cubicBezTo>
                  <a:pt x="110" y="76"/>
                  <a:pt x="109" y="78"/>
                  <a:pt x="107" y="80"/>
                </a:cubicBezTo>
                <a:cubicBezTo>
                  <a:pt x="81" y="107"/>
                  <a:pt x="81" y="107"/>
                  <a:pt x="81" y="107"/>
                </a:cubicBezTo>
                <a:cubicBezTo>
                  <a:pt x="79" y="109"/>
                  <a:pt x="77" y="110"/>
                  <a:pt x="74" y="110"/>
                </a:cubicBezTo>
                <a:cubicBezTo>
                  <a:pt x="37" y="110"/>
                  <a:pt x="37" y="110"/>
                  <a:pt x="37" y="110"/>
                </a:cubicBezTo>
                <a:cubicBezTo>
                  <a:pt x="34" y="110"/>
                  <a:pt x="31" y="109"/>
                  <a:pt x="30" y="107"/>
                </a:cubicBezTo>
                <a:close/>
              </a:path>
            </a:pathLst>
          </a:custGeom>
          <a:noFill/>
          <a:ln w="25400" cap="flat">
            <a:solidFill>
              <a:srgbClr val="305896"/>
            </a:solidFill>
            <a:miter lim="400000"/>
          </a:ln>
          <a:effectLst>
            <a:outerShdw blurRad="190500" dist="127000" dir="5400000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1" name="Freeform 7"/>
          <p:cNvSpPr/>
          <p:nvPr/>
        </p:nvSpPr>
        <p:spPr>
          <a:xfrm>
            <a:off x="8425392" y="1195578"/>
            <a:ext cx="2008716" cy="1035051"/>
          </a:xfrm>
          <a:custGeom>
            <a:avLst/>
            <a:gdLst>
              <a:gd name="T0" fmla="*/ 60 w 68"/>
              <a:gd name="T1" fmla="*/ 3 h 35"/>
              <a:gd name="T2" fmla="*/ 53 w 68"/>
              <a:gd name="T3" fmla="*/ 0 h 35"/>
              <a:gd name="T4" fmla="*/ 16 w 68"/>
              <a:gd name="T5" fmla="*/ 0 h 35"/>
              <a:gd name="T6" fmla="*/ 9 w 68"/>
              <a:gd name="T7" fmla="*/ 3 h 35"/>
              <a:gd name="T8" fmla="*/ 0 w 68"/>
              <a:gd name="T9" fmla="*/ 11 h 35"/>
              <a:gd name="T10" fmla="*/ 5 w 68"/>
              <a:gd name="T11" fmla="*/ 11 h 35"/>
              <a:gd name="T12" fmla="*/ 9 w 68"/>
              <a:gd name="T13" fmla="*/ 14 h 35"/>
              <a:gd name="T14" fmla="*/ 34 w 68"/>
              <a:gd name="T15" fmla="*/ 35 h 35"/>
              <a:gd name="T16" fmla="*/ 60 w 68"/>
              <a:gd name="T17" fmla="*/ 14 h 35"/>
              <a:gd name="T18" fmla="*/ 64 w 68"/>
              <a:gd name="T19" fmla="*/ 11 h 35"/>
              <a:gd name="T20" fmla="*/ 68 w 68"/>
              <a:gd name="T21" fmla="*/ 11 h 35"/>
              <a:gd name="T22" fmla="*/ 60 w 68"/>
              <a:gd name="T23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8" h="35">
                <a:moveTo>
                  <a:pt x="60" y="3"/>
                </a:moveTo>
                <a:cubicBezTo>
                  <a:pt x="58" y="1"/>
                  <a:pt x="56" y="0"/>
                  <a:pt x="53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3" y="0"/>
                  <a:pt x="10" y="1"/>
                  <a:pt x="9" y="3"/>
                </a:cubicBezTo>
                <a:cubicBezTo>
                  <a:pt x="0" y="11"/>
                  <a:pt x="0" y="11"/>
                  <a:pt x="0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7" y="11"/>
                  <a:pt x="8" y="12"/>
                  <a:pt x="9" y="14"/>
                </a:cubicBezTo>
                <a:cubicBezTo>
                  <a:pt x="11" y="26"/>
                  <a:pt x="22" y="35"/>
                  <a:pt x="34" y="35"/>
                </a:cubicBezTo>
                <a:cubicBezTo>
                  <a:pt x="47" y="35"/>
                  <a:pt x="57" y="26"/>
                  <a:pt x="60" y="14"/>
                </a:cubicBezTo>
                <a:cubicBezTo>
                  <a:pt x="60" y="12"/>
                  <a:pt x="62" y="11"/>
                  <a:pt x="64" y="11"/>
                </a:cubicBezTo>
                <a:cubicBezTo>
                  <a:pt x="68" y="11"/>
                  <a:pt x="68" y="11"/>
                  <a:pt x="68" y="11"/>
                </a:cubicBezTo>
                <a:lnTo>
                  <a:pt x="60" y="3"/>
                </a:lnTo>
                <a:close/>
              </a:path>
            </a:pathLst>
          </a:custGeom>
          <a:solidFill>
            <a:srgbClr val="305896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3" name="Subtitle 2"/>
          <p:cNvSpPr txBox="1"/>
          <p:nvPr/>
        </p:nvSpPr>
        <p:spPr>
          <a:xfrm>
            <a:off x="7979051" y="2302383"/>
            <a:ext cx="2904302" cy="4262628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defPPr>
              <a:defRPr lang="zh-CN"/>
            </a:defPPr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计算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k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个新的聚类中心：</a:t>
            </a:r>
            <a:endParaRPr lang="zh-CN" altLang="en-US" sz="1800">
              <a:latin typeface="宋体" panose="02010600030101010101" pitchFamily="2" charset="-122"/>
              <a:ea typeface="微软雅黑" panose="020B0503020204020204" pitchFamily="34" charset="-122"/>
              <a:cs typeface="Open Sans" panose="020B0606030504020204" pitchFamily="34" charset="0"/>
              <a:sym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即取聚类中所有元素各自维度的算术平均数；</a:t>
            </a:r>
            <a:endParaRPr lang="zh-CN" altLang="en-US" sz="1800">
              <a:latin typeface="宋体" panose="02010600030101010101" pitchFamily="2" charset="-122"/>
              <a:ea typeface="微软雅黑" panose="020B0503020204020204" pitchFamily="34" charset="-122"/>
              <a:cs typeface="Open Sans" panose="020B0606030504020204" pitchFamily="34" charset="0"/>
              <a:sym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判断：若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Zj(I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+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1)≠Zj(I)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，</a:t>
            </a:r>
            <a:endParaRPr lang="zh-CN" altLang="en-US" sz="1800">
              <a:latin typeface="宋体" panose="02010600030101010101" pitchFamily="2" charset="-122"/>
              <a:ea typeface="微软雅黑" panose="020B0503020204020204" pitchFamily="34" charset="-122"/>
              <a:cs typeface="Open Sans" panose="020B0606030504020204" pitchFamily="34" charset="0"/>
              <a:sym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j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=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l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2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3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，…，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k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，则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I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=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I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+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1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， 返回</a:t>
            </a:r>
            <a:r>
              <a:rPr lang="en-US" altLang="zh-CN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(2)</a:t>
            </a:r>
            <a:r>
              <a:rPr lang="zh-CN" altLang="en-US" sz="1800">
                <a:latin typeface="宋体" panose="02010600030101010101" pitchFamily="2" charset="-122"/>
                <a:ea typeface="微软雅黑" panose="020B0503020204020204" pitchFamily="34" charset="-122"/>
                <a:cs typeface="Open Sans" panose="020B0606030504020204" pitchFamily="34" charset="0"/>
                <a:sym typeface="宋体" panose="02010600030101010101" pitchFamily="2" charset="-122"/>
              </a:rPr>
              <a:t>；否则算法结束。</a:t>
            </a:r>
            <a:endParaRPr lang="zh-CN" altLang="zh-CN" sz="1800">
              <a:latin typeface="宋体" panose="02010600030101010101" pitchFamily="2" charset="-122"/>
              <a:ea typeface="微软雅黑" panose="020B0503020204020204" pitchFamily="34" charset="-122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26" name="TextBox 24"/>
          <p:cNvSpPr txBox="1"/>
          <p:nvPr/>
        </p:nvSpPr>
        <p:spPr>
          <a:xfrm>
            <a:off x="5392374" y="1195578"/>
            <a:ext cx="1407251" cy="10349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50000"/>
              </a:lnSpc>
            </a:pPr>
            <a:r>
              <a:rPr lang="en-US" altLang="zh-CN"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2</a:t>
            </a:r>
            <a:endParaRPr lang="zh-CN" altLang="zh-CN" sz="4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7" name="TextBox 24"/>
          <p:cNvSpPr txBox="1"/>
          <p:nvPr/>
        </p:nvSpPr>
        <p:spPr>
          <a:xfrm>
            <a:off x="8726125" y="1195578"/>
            <a:ext cx="140725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50000"/>
              </a:lnSpc>
            </a:pPr>
            <a:r>
              <a:rPr lang="en-US" altLang="zh-CN"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3</a:t>
            </a:r>
            <a:endParaRPr lang="zh-CN" altLang="zh-CN" sz="4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dvAuto="0"/>
      <p:bldP spid="13" grpId="1" advAuto="0"/>
      <p:bldP spid="14" grpId="2" advAuto="0"/>
      <p:bldP spid="15" grpId="3" advAuto="0"/>
      <p:bldP spid="16" grpId="4" advAuto="0"/>
      <p:bldP spid="17" grpId="5" advAuto="0"/>
      <p:bldP spid="19" grpId="6" advAuto="0"/>
      <p:bldP spid="20" grpId="7" advAuto="0"/>
      <p:bldP spid="21" grpId="8" advAuto="0"/>
      <p:bldP spid="23" grpId="9" advAuto="0"/>
      <p:bldP spid="26" grpId="10" advAuto="0"/>
      <p:bldP spid="27" grpId="1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99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00" name="矩形 25"/>
          <p:cNvSpPr/>
          <p:nvPr/>
        </p:nvSpPr>
        <p:spPr>
          <a:xfrm>
            <a:off x="1935445" y="393958"/>
            <a:ext cx="9922258" cy="847149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/>
            <a:r>
              <a:rPr lang="zh-CN" altLang="en-US" sz="36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k-means算法描述</a:t>
            </a:r>
            <a:endParaRPr lang="zh-CN" altLang="en-US" sz="36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01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5" name="Text Placeholder 3"/>
          <p:cNvSpPr txBox="1"/>
          <p:nvPr/>
        </p:nvSpPr>
        <p:spPr>
          <a:xfrm>
            <a:off x="1200721" y="904875"/>
            <a:ext cx="9894493" cy="5953165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None/>
              <a:defRPr sz="1400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900"/>
            </a:lvl9pPr>
          </a:lstStyle>
          <a:p>
            <a:pPr algn="just" defTabSz="1219200">
              <a:spcBef>
                <a:spcPct val="20000"/>
              </a:spcBef>
              <a:defRPr/>
            </a:pP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距离</a:t>
            </a: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D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的计算方法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just" defTabSz="1219200">
              <a:spcBef>
                <a:spcPct val="20000"/>
              </a:spcBef>
              <a:defRPr/>
            </a:pP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1.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欧几里得距离：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just" defTabSz="1219200">
              <a:spcBef>
                <a:spcPct val="20000"/>
              </a:spcBef>
              <a:defRPr/>
            </a:pP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其意义就是两个元素在欧氏空间中的集合距离，因为其直观易懂且可解释性强，被广泛用于标识两个标量元素的相异度。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2.曼哈顿距离：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3.闵可夫斯基距离：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  <a:p>
            <a:pPr algn="l" defTabSz="1219200">
              <a:spcBef>
                <a:spcPct val="20000"/>
              </a:spcBef>
              <a:defRPr/>
            </a:pPr>
            <a:endParaRPr lang="zh-CN" altLang="zh-CN" sz="200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</p:txBody>
      </p:sp>
      <p:pic>
        <p:nvPicPr>
          <p:cNvPr id="2" name="图片 1" descr="upload_post_object_v2_27177620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84" y="2971800"/>
            <a:ext cx="8181753" cy="914400"/>
          </a:xfrm>
          <a:prstGeom prst="rect">
            <a:avLst/>
          </a:prstGeom>
        </p:spPr>
      </p:pic>
      <p:pic>
        <p:nvPicPr>
          <p:cNvPr id="4" name="图片 3" descr="upload_post_object_v2_3168039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2" y="4352925"/>
            <a:ext cx="9096375" cy="866775"/>
          </a:xfrm>
          <a:prstGeom prst="rect">
            <a:avLst/>
          </a:prstGeom>
        </p:spPr>
      </p:pic>
      <p:pic>
        <p:nvPicPr>
          <p:cNvPr id="5" name="图片 4" descr="upload_post_object_v2_40700625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721" y="5695950"/>
            <a:ext cx="9001125" cy="733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87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88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实验内容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89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pic>
        <p:nvPicPr>
          <p:cNvPr id="2" name="图片 1" descr="upload_post_object_v2_7467187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797" y="1490602"/>
            <a:ext cx="8757960" cy="4544817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2958839" y="992614"/>
            <a:ext cx="7597813" cy="49794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/>
              <a:t>依据下图，通过程序判断中国男足近几年在亚洲处于几流水平？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43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44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实验要求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4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D72D-E521-4EDB-9E15-3B2CB69B5E3E}" type="slidenum">
              <a:rPr lang="zh-CN" altLang="en-US">
                <a:latin typeface="宋体" panose="02010600030101010101" pitchFamily="2" charset="-122"/>
                <a:sym typeface="宋体" panose="02010600030101010101" pitchFamily="2" charset="-122"/>
              </a:rPr>
            </a:fld>
            <a:endParaRPr lang="zh-CN" altLang="en-US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1689787" y="904964"/>
            <a:ext cx="10167900" cy="4989645"/>
          </a:xfrm>
          <a:prstGeom prst="roundRect">
            <a:avLst>
              <a:gd name="adj" fmla="val 16797"/>
            </a:avLst>
          </a:prstGeom>
          <a:solidFill>
            <a:schemeClr val="bg1"/>
          </a:solidFill>
          <a:ln w="28575">
            <a:solidFill>
              <a:srgbClr val="3058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1、信息输入方式，仍然2种可选：文本输入/人机交互输入（确实觉得有困难的同学，也可以采用直接在代码中写死的方式）；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2、在进行规格化数据的时候，精确到小数点后2位（四舍五入）；打印输出规格化后的数据；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、选取K个初始聚类中心。K=3。要求重复进行2次选择，1次选择PPT上的国家：日本，巴林，泰国做为簇的种子，验证PPT最终的结果；1次请大家任意重新选择3个国家，进行K-means算法（让大家直观感受不同的簇的种子的选择，对于迭代次数，最后的聚类结果的影响）。打印输出选择的聚类中心国家名称；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4、计算每个数据对象到聚类中心的距离的时候，要求精确到小数点后4位（四舍五入）；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具体显示内容：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5、根据各数据对象到聚类中心的距离，将对象分为三类，打印显示三类的内容；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6、根据第一次的聚类结果，调整3个簇的中心点，打印并显示调整后的中心点；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7、再次计算各数据对象到聚类中心的距离，将对象分为三类。若各类包含的数据无变化，则过程结束；否则继续。过程的结束点，打印迭代的次数。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注意：若迭代N次(N为什么值比较合适？？？)仍然无法收敛，则过程结束；</a:t>
            </a:r>
            <a:endParaRPr sz="20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 rot="2700000">
            <a:off x="5017147" y="2058858"/>
            <a:ext cx="2924529" cy="292452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5" name="椭圆 4"/>
          <p:cNvSpPr/>
          <p:nvPr/>
        </p:nvSpPr>
        <p:spPr>
          <a:xfrm>
            <a:off x="4500484" y="1542194"/>
            <a:ext cx="3957855" cy="3957855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grpSp>
        <p:nvGrpSpPr>
          <p:cNvPr id="7" name="组合 6"/>
          <p:cNvGrpSpPr/>
          <p:nvPr/>
        </p:nvGrpSpPr>
        <p:grpSpPr>
          <a:xfrm>
            <a:off x="4950565" y="2141272"/>
            <a:ext cx="3094826" cy="2773962"/>
            <a:chOff x="4950565" y="2141272"/>
            <a:chExt cx="3094826" cy="2773962"/>
          </a:xfrm>
        </p:grpSpPr>
        <p:sp>
          <p:nvSpPr>
            <p:cNvPr id="44" name="椭圆 43"/>
            <p:cNvSpPr/>
            <p:nvPr/>
          </p:nvSpPr>
          <p:spPr>
            <a:xfrm>
              <a:off x="4950565" y="2141272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5" name="椭圆 44"/>
            <p:cNvSpPr/>
            <p:nvPr/>
          </p:nvSpPr>
          <p:spPr>
            <a:xfrm>
              <a:off x="7893507" y="4763350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6" name="组合 5"/>
          <p:cNvGrpSpPr/>
          <p:nvPr/>
        </p:nvGrpSpPr>
        <p:grpSpPr>
          <a:xfrm>
            <a:off x="4953229" y="2141272"/>
            <a:ext cx="3084220" cy="2798278"/>
            <a:chOff x="4953229" y="2141272"/>
            <a:chExt cx="3084220" cy="2798278"/>
          </a:xfrm>
        </p:grpSpPr>
        <p:sp>
          <p:nvSpPr>
            <p:cNvPr id="46" name="椭圆 45"/>
            <p:cNvSpPr/>
            <p:nvPr/>
          </p:nvSpPr>
          <p:spPr>
            <a:xfrm>
              <a:off x="4953229" y="4787666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7" name="椭圆 46"/>
            <p:cNvSpPr/>
            <p:nvPr/>
          </p:nvSpPr>
          <p:spPr>
            <a:xfrm>
              <a:off x="7885565" y="2141272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20" name="矩形 19"/>
          <p:cNvSpPr/>
          <p:nvPr/>
        </p:nvSpPr>
        <p:spPr>
          <a:xfrm>
            <a:off x="4834436" y="2892233"/>
            <a:ext cx="3210955" cy="1334933"/>
          </a:xfrm>
          <a:prstGeom prst="rect">
            <a:avLst/>
          </a:prstGeom>
          <a:ln>
            <a:noFill/>
          </a:ln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8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代码分享</a:t>
            </a:r>
            <a:endParaRPr lang="zh-CN" altLang="en-US" sz="28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 rot="13500000">
            <a:off x="3197913" y="2850072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3" name="矩形 22"/>
          <p:cNvSpPr/>
          <p:nvPr/>
        </p:nvSpPr>
        <p:spPr>
          <a:xfrm>
            <a:off x="3461963" y="3033286"/>
            <a:ext cx="526001" cy="82378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4800">
                <a:solidFill>
                  <a:prstClr val="white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2</a:t>
            </a:r>
            <a:endParaRPr lang="zh-CN" altLang="zh-CN" sz="4800">
              <a:solidFill>
                <a:prstClr val="white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 prLst="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4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1711 7.40741E-07 L -4.58333E-06 7.40741E-07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5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5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dvAuto="0"/>
      <p:bldP spid="5" grpId="1" advAuto="0"/>
      <p:bldP spid="20" grpId="2" advAuto="0"/>
      <p:bldP spid="22" grpId="3" advAuto="0"/>
      <p:bldP spid="22" grpId="4" advAuto="0"/>
      <p:bldP spid="23" grpId="5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298708"/>
            <a:ext cx="9922258" cy="606167"/>
          </a:xfrm>
          <a:prstGeom prst="rect">
            <a:avLst/>
          </a:prstGeom>
        </p:spPr>
        <p:txBody>
          <a:bodyPr wrap="square">
            <a:normAutofit fontScale="8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36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 </a:t>
            </a:r>
            <a:r>
              <a:rPr lang="zh-CN" altLang="en-US" sz="36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代码分享</a:t>
            </a:r>
            <a:endParaRPr lang="zh-CN" altLang="en-US" sz="36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7" name="New shape"/>
          <p:cNvSpPr/>
          <p:nvPr/>
        </p:nvSpPr>
        <p:spPr>
          <a:xfrm>
            <a:off x="2561565" y="1538137"/>
            <a:ext cx="808282" cy="5089463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流程图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2205388" y="3269981"/>
            <a:ext cx="13699" cy="1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3432175" y="857250"/>
            <a:ext cx="8406765" cy="59448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7" grpId="6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510917"/>
          </a:xfrm>
          <a:prstGeom prst="rect">
            <a:avLst/>
          </a:prstGeom>
        </p:spPr>
        <p:txBody>
          <a:bodyPr wrap="square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8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 </a:t>
            </a:r>
            <a:r>
              <a:rPr lang="zh-CN" altLang="en-US" sz="28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代码分享</a:t>
            </a:r>
            <a:endParaRPr lang="zh-CN" altLang="en-US" sz="28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8" name="New shape"/>
          <p:cNvSpPr/>
          <p:nvPr/>
        </p:nvSpPr>
        <p:spPr>
          <a:xfrm>
            <a:off x="1545124" y="1677532"/>
            <a:ext cx="3114799" cy="920395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200" b="1">
                <a:solidFill>
                  <a:srgbClr val="000000"/>
                </a:solidFill>
                <a:latin typeface="宋体" panose="02010600030101010101" pitchFamily="2" charset="-122"/>
              </a:rPr>
              <a:t>数据规格化</a:t>
            </a:r>
            <a:endParaRPr sz="32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 descr="upload_post_object_v2_19394437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72" y="2490610"/>
            <a:ext cx="10438731" cy="33836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8" grpId="7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6111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8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 </a:t>
            </a:r>
            <a:r>
              <a:rPr lang="zh-CN" altLang="en-US" sz="28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代码分享</a:t>
            </a:r>
            <a:endParaRPr lang="zh-CN" altLang="en-US" sz="28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8" name="New shape"/>
          <p:cNvSpPr/>
          <p:nvPr/>
        </p:nvSpPr>
        <p:spPr>
          <a:xfrm>
            <a:off x="2732338" y="1419930"/>
            <a:ext cx="7881107" cy="712485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随机生成簇心，冒泡排序确定簇心所在梯队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 descr="upload_post_object_v2_42131579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2404"/>
            <a:ext cx="12192000" cy="3883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8" grpId="7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631122"/>
          </a:xfrm>
          <a:prstGeom prst="rect">
            <a:avLst/>
          </a:prstGeom>
        </p:spPr>
        <p:txBody>
          <a:bodyPr wrap="square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36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 </a:t>
            </a:r>
            <a:r>
              <a:rPr lang="zh-CN" altLang="en-US" sz="36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代码分享</a:t>
            </a:r>
            <a:endParaRPr lang="zh-CN" altLang="en-US" sz="36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8" name="New shape"/>
          <p:cNvSpPr/>
          <p:nvPr/>
        </p:nvSpPr>
        <p:spPr>
          <a:xfrm>
            <a:off x="1117600" y="1025091"/>
            <a:ext cx="7174788" cy="446178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32500"/>
          </a:bodyPr>
          <a:lstStyle/>
          <a:p>
            <a:pPr indent="0" algn="l">
              <a:lnSpc>
                <a:spcPct val="100000"/>
              </a:lnSpc>
            </a:pPr>
            <a:r>
              <a:rPr sz="7500" b="1">
                <a:solidFill>
                  <a:srgbClr val="000000"/>
                </a:solidFill>
                <a:latin typeface="宋体" panose="02010600030101010101" pitchFamily="2" charset="-122"/>
              </a:rPr>
              <a:t>K-measns算法</a:t>
            </a:r>
            <a:r>
              <a:rPr lang="zh-CN" altLang="en-US" sz="7500" b="1">
                <a:solidFill>
                  <a:srgbClr val="000000"/>
                </a:solidFill>
                <a:latin typeface="宋体" panose="02010600030101010101" pitchFamily="2" charset="-122"/>
              </a:rPr>
              <a:t>进行聚类计算</a:t>
            </a:r>
            <a:endParaRPr sz="75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 descr="upload_post_object_v2_13745362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4014"/>
            <a:ext cx="12192000" cy="5185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8" grpId="7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631122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 </a:t>
            </a:r>
            <a:r>
              <a:rPr lang="zh-CN" altLang="en-US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代码分享</a:t>
            </a:r>
            <a:endParaRPr lang="zh-CN" altLang="en-US" sz="31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8" name="New shape"/>
          <p:cNvSpPr/>
          <p:nvPr/>
        </p:nvSpPr>
        <p:spPr>
          <a:xfrm>
            <a:off x="1117600" y="1025091"/>
            <a:ext cx="7174788" cy="446178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32500"/>
          </a:bodyPr>
          <a:lstStyle/>
          <a:p>
            <a:pPr indent="0" algn="l">
              <a:lnSpc>
                <a:spcPct val="100000"/>
              </a:lnSpc>
            </a:pPr>
            <a:r>
              <a:rPr sz="7500" b="1">
                <a:solidFill>
                  <a:srgbClr val="000000"/>
                </a:solidFill>
                <a:latin typeface="宋体" panose="02010600030101010101" pitchFamily="2" charset="-122"/>
              </a:rPr>
              <a:t>K-measns算法</a:t>
            </a:r>
            <a:r>
              <a:rPr lang="zh-CN" altLang="en-US" sz="7500" b="1">
                <a:solidFill>
                  <a:srgbClr val="000000"/>
                </a:solidFill>
                <a:latin typeface="宋体" panose="02010600030101010101" pitchFamily="2" charset="-122"/>
              </a:rPr>
              <a:t>进行聚类计算</a:t>
            </a:r>
            <a:endParaRPr sz="75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upload_post_object_v2_165123920"/>
          <p:cNvPicPr>
            <a:picLocks noChangeAspect="1"/>
          </p:cNvPicPr>
          <p:nvPr/>
        </p:nvPicPr>
        <p:blipFill>
          <a:blip r:embed="rId2"/>
          <a:srcRect r="-1849" b="-5653"/>
          <a:stretch>
            <a:fillRect/>
          </a:stretch>
        </p:blipFill>
        <p:spPr>
          <a:xfrm>
            <a:off x="92059" y="1471250"/>
            <a:ext cx="11830659" cy="5642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8" grpId="7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510917"/>
          </a:xfrm>
          <a:prstGeom prst="rect">
            <a:avLst/>
          </a:prstGeom>
        </p:spPr>
        <p:txBody>
          <a:bodyPr wrap="square">
            <a:normAutofit fontScale="8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 </a:t>
            </a:r>
            <a:r>
              <a:rPr lang="zh-CN" altLang="en-US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代码分享</a:t>
            </a:r>
            <a:endParaRPr lang="zh-CN" altLang="en-US" sz="31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8" name="New shape"/>
          <p:cNvSpPr/>
          <p:nvPr/>
        </p:nvSpPr>
        <p:spPr>
          <a:xfrm>
            <a:off x="2230517" y="692628"/>
            <a:ext cx="4980731" cy="370998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主函数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upload_post_object_v2_1724358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9" y="1063600"/>
            <a:ext cx="9331366" cy="56623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8" grpId="7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510917"/>
          </a:xfrm>
          <a:prstGeom prst="rect">
            <a:avLst/>
          </a:prstGeom>
        </p:spPr>
        <p:txBody>
          <a:bodyPr wrap="square">
            <a:normAutofit fontScale="8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 </a:t>
            </a:r>
            <a:r>
              <a:rPr lang="zh-CN" altLang="en-US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代码分享</a:t>
            </a:r>
            <a:endParaRPr lang="zh-CN" altLang="en-US" sz="31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8" name="New shape"/>
          <p:cNvSpPr/>
          <p:nvPr/>
        </p:nvSpPr>
        <p:spPr>
          <a:xfrm>
            <a:off x="2230517" y="692628"/>
            <a:ext cx="4980731" cy="370998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主函数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upload_post_object_v2_33512158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5659"/>
            <a:ext cx="12192000" cy="5575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8" grpId="7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2 </a:t>
            </a:r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代码分享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9" name="New shape"/>
          <p:cNvSpPr/>
          <p:nvPr/>
        </p:nvSpPr>
        <p:spPr>
          <a:xfrm>
            <a:off x="1861437" y="658380"/>
            <a:ext cx="8308821" cy="349472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整体源代码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 descr="upload_post_object_v2_11221073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504" y="795371"/>
            <a:ext cx="5434430" cy="5953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9" grpId="8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2 </a:t>
            </a:r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代码分享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9" name="New shape"/>
          <p:cNvSpPr/>
          <p:nvPr/>
        </p:nvSpPr>
        <p:spPr>
          <a:xfrm>
            <a:off x="1861437" y="658380"/>
            <a:ext cx="8308821" cy="349472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整体源代码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upload_post_object_v2_3729853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300"/>
            <a:ext cx="12192000" cy="5328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9" grpId="8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2 </a:t>
            </a:r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代码分享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9" name="New shape"/>
          <p:cNvSpPr/>
          <p:nvPr/>
        </p:nvSpPr>
        <p:spPr>
          <a:xfrm>
            <a:off x="1861437" y="658380"/>
            <a:ext cx="8308821" cy="349472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整体源代码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upload_post_object_v2_27067531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096" y="763823"/>
            <a:ext cx="5246764" cy="6094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9" grpId="8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2 </a:t>
            </a:r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代码分享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9" name="New shape"/>
          <p:cNvSpPr/>
          <p:nvPr/>
        </p:nvSpPr>
        <p:spPr>
          <a:xfrm>
            <a:off x="1861437" y="658380"/>
            <a:ext cx="8308821" cy="349472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整体源代码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 descr="upload_post_object_v2_32859460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787" y="1000091"/>
            <a:ext cx="9525031" cy="5857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9" grpId="8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2 </a:t>
            </a:r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代码分享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9" name="New shape"/>
          <p:cNvSpPr/>
          <p:nvPr/>
        </p:nvSpPr>
        <p:spPr>
          <a:xfrm>
            <a:off x="1861437" y="658380"/>
            <a:ext cx="8308821" cy="349472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lang="zh-CN" altLang="en-US" sz="3700" b="1">
                <a:solidFill>
                  <a:srgbClr val="000000"/>
                </a:solidFill>
                <a:latin typeface="宋体" panose="02010600030101010101" pitchFamily="2" charset="-122"/>
              </a:rPr>
              <a:t>整体源代码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 descr="upload_post_object_v2_16865557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778"/>
            <a:ext cx="12192000" cy="4671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  <p:bldP spid="29" grpId="8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2 </a:t>
            </a:r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代码分享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9" name="New shape"/>
          <p:cNvSpPr/>
          <p:nvPr/>
        </p:nvSpPr>
        <p:spPr>
          <a:xfrm>
            <a:off x="1861437" y="658380"/>
            <a:ext cx="8308821" cy="349472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60000"/>
          </a:bodyPr>
          <a:lstStyle/>
          <a:p>
            <a:pPr indent="0" algn="l">
              <a:lnSpc>
                <a:spcPct val="10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Km.txt</a:t>
            </a:r>
            <a:r>
              <a:rPr lang="zh-CN" sz="3700" b="1">
                <a:solidFill>
                  <a:srgbClr val="000000"/>
                </a:solidFill>
                <a:latin typeface="宋体" panose="02010600030101010101" pitchFamily="2" charset="-122"/>
              </a:rPr>
              <a:t>文件</a:t>
            </a:r>
            <a:endParaRPr lang="zh-CN"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QQ截图202311141955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1052830"/>
            <a:ext cx="12192000" cy="5858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 advAuto="0"/>
      <p:bldP spid="17" grpId="1" bldLvl="0" animBg="1" advAuto="0"/>
      <p:bldP spid="18" grpId="2" bldLvl="0" animBg="1" advAuto="0"/>
      <p:bldP spid="18" grpId="3" bldLvl="0" animBg="1" advAuto="0"/>
      <p:bldP spid="15" grpId="4" bldLvl="0" animBg="1" advAuto="0"/>
      <p:bldP spid="15" grpId="5" bldLvl="0" animBg="1" advAuto="0"/>
      <p:bldP spid="29" grpId="8" bldLvl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 rot="2700000">
            <a:off x="5017147" y="2058858"/>
            <a:ext cx="2924529" cy="292452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5" name="椭圆 4"/>
          <p:cNvSpPr/>
          <p:nvPr/>
        </p:nvSpPr>
        <p:spPr>
          <a:xfrm>
            <a:off x="4500484" y="1542194"/>
            <a:ext cx="3957855" cy="3957855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grpSp>
        <p:nvGrpSpPr>
          <p:cNvPr id="7" name="组合 6"/>
          <p:cNvGrpSpPr/>
          <p:nvPr/>
        </p:nvGrpSpPr>
        <p:grpSpPr>
          <a:xfrm>
            <a:off x="4950565" y="2141272"/>
            <a:ext cx="3094826" cy="2773962"/>
            <a:chOff x="4950565" y="2141272"/>
            <a:chExt cx="3094826" cy="2773962"/>
          </a:xfrm>
        </p:grpSpPr>
        <p:sp>
          <p:nvSpPr>
            <p:cNvPr id="44" name="椭圆 43"/>
            <p:cNvSpPr/>
            <p:nvPr/>
          </p:nvSpPr>
          <p:spPr>
            <a:xfrm>
              <a:off x="4950565" y="2141272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5" name="椭圆 44"/>
            <p:cNvSpPr/>
            <p:nvPr/>
          </p:nvSpPr>
          <p:spPr>
            <a:xfrm>
              <a:off x="7893507" y="4763350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6" name="组合 5"/>
          <p:cNvGrpSpPr/>
          <p:nvPr/>
        </p:nvGrpSpPr>
        <p:grpSpPr>
          <a:xfrm>
            <a:off x="4953229" y="2141272"/>
            <a:ext cx="3084220" cy="2798278"/>
            <a:chOff x="4953229" y="2141272"/>
            <a:chExt cx="3084220" cy="2798278"/>
          </a:xfrm>
        </p:grpSpPr>
        <p:sp>
          <p:nvSpPr>
            <p:cNvPr id="46" name="椭圆 45"/>
            <p:cNvSpPr/>
            <p:nvPr/>
          </p:nvSpPr>
          <p:spPr>
            <a:xfrm>
              <a:off x="4953229" y="4787666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7" name="椭圆 46"/>
            <p:cNvSpPr/>
            <p:nvPr/>
          </p:nvSpPr>
          <p:spPr>
            <a:xfrm>
              <a:off x="7885565" y="2141272"/>
              <a:ext cx="151884" cy="151884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20" name="矩形 19"/>
          <p:cNvSpPr/>
          <p:nvPr/>
        </p:nvSpPr>
        <p:spPr>
          <a:xfrm>
            <a:off x="4834436" y="2892233"/>
            <a:ext cx="3210955" cy="1334933"/>
          </a:xfrm>
          <a:prstGeom prst="rect">
            <a:avLst/>
          </a:prstGeom>
          <a:ln>
            <a:noFill/>
          </a:ln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8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结果展示</a:t>
            </a:r>
            <a:endParaRPr lang="zh-CN" altLang="en-US" sz="28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 rot="13500000">
            <a:off x="3197913" y="2850072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3" name="矩形 22"/>
          <p:cNvSpPr/>
          <p:nvPr/>
        </p:nvSpPr>
        <p:spPr>
          <a:xfrm>
            <a:off x="3454030" y="3033286"/>
            <a:ext cx="541866" cy="82378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4800">
                <a:solidFill>
                  <a:prstClr val="white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3</a:t>
            </a:r>
            <a:endParaRPr lang="zh-CN" altLang="zh-CN" sz="4800">
              <a:solidFill>
                <a:prstClr val="white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 prLst="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0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4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1711 7.40741E-07 L -4.58333E-06 7.40741E-07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5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5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dvAuto="0"/>
      <p:bldP spid="5" grpId="1" advAuto="0"/>
      <p:bldP spid="20" grpId="2" advAuto="0"/>
      <p:bldP spid="22" grpId="3" advAuto="0"/>
      <p:bldP spid="22" grpId="4" advAuto="0"/>
      <p:bldP spid="23" grpId="5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202121"/>
            <a:ext cx="9922258" cy="653503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/>
            <a:r>
              <a:rPr lang="en-US" altLang="zh-CN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 </a:t>
            </a:r>
            <a:r>
              <a:rPr lang="zh-CN" altLang="en-US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结果展示</a:t>
            </a:r>
            <a:endParaRPr lang="zh-CN" altLang="en-US" sz="31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7" name="文本框 6"/>
          <p:cNvSpPr txBox="1"/>
          <p:nvPr userDrawn="1"/>
        </p:nvSpPr>
        <p:spPr>
          <a:xfrm>
            <a:off x="1689787" y="749342"/>
            <a:ext cx="5692711" cy="446317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b="1"/>
              <a:t>日本，巴林，泰国做为簇的种子，验证PPT最终的结果</a:t>
            </a:r>
            <a:endParaRPr lang="zh-CN" altLang="en-US" b="1"/>
          </a:p>
        </p:txBody>
      </p:sp>
      <p:pic>
        <p:nvPicPr>
          <p:cNvPr id="8" name="图片 7" descr="upload_post_object_v2_31190050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35" y="1087426"/>
            <a:ext cx="10646876" cy="5670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26" name="矩形 25"/>
          <p:cNvSpPr/>
          <p:nvPr/>
        </p:nvSpPr>
        <p:spPr>
          <a:xfrm>
            <a:off x="1935445" y="202121"/>
            <a:ext cx="9922258" cy="653503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l"/>
            <a:r>
              <a:rPr lang="en-US" altLang="zh-CN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 </a:t>
            </a:r>
            <a:r>
              <a:rPr lang="zh-CN" altLang="en-US" sz="3100">
                <a:solidFill>
                  <a:srgbClr val="18478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结果展示</a:t>
            </a:r>
            <a:endParaRPr lang="zh-CN" altLang="en-US" sz="3100">
              <a:solidFill>
                <a:srgbClr val="18478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pic>
        <p:nvPicPr>
          <p:cNvPr id="3" name="图片 2" descr="upload_post_object_v2_4933653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62" y="1195659"/>
            <a:ext cx="10619222" cy="5662395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054697" y="904964"/>
            <a:ext cx="3435812" cy="568514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b="1"/>
              <a:t>随机选择3个国家，打印结果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06 L -2.5E-06 -1.85185E-06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dvAuto="0"/>
      <p:bldP spid="17" grpId="1" advAuto="0"/>
      <p:bldP spid="18" grpId="2" advAuto="0"/>
      <p:bldP spid="18" grpId="3" advAuto="0"/>
      <p:bldP spid="15" grpId="4" advAuto="0"/>
      <p:bldP spid="15" grpId="5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16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8" name="矩形 17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9" name="矩形 25"/>
          <p:cNvSpPr/>
          <p:nvPr/>
        </p:nvSpPr>
        <p:spPr>
          <a:xfrm>
            <a:off x="1935445" y="393958"/>
            <a:ext cx="9922258" cy="46166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400">
                <a:solidFill>
                  <a:srgbClr val="18478F"/>
                </a:solidFill>
                <a:latin typeface="宋体" panose="02010600030101010101" pitchFamily="2" charset="-122"/>
                <a:ea typeface="Open Sans" panose="020B0606030504020204" pitchFamily="34" charset="0"/>
                <a:cs typeface="Open Sans" panose="020B0606030504020204" pitchFamily="34" charset="0"/>
                <a:sym typeface="宋体" panose="02010600030101010101" pitchFamily="2" charset="-122"/>
              </a:rPr>
              <a:t>-</a:t>
            </a:r>
            <a:endParaRPr lang="zh-CN" altLang="en-US" sz="2400">
              <a:solidFill>
                <a:srgbClr val="18478F"/>
              </a:solidFill>
              <a:latin typeface="宋体" panose="02010600030101010101" pitchFamily="2" charset="-122"/>
              <a:ea typeface="Open Sans" panose="020B0606030504020204" pitchFamily="34" charset="0"/>
              <a:cs typeface="Open Sans" panose="020B0606030504020204" pitchFamily="34" charset="0"/>
              <a:sym typeface="宋体" panose="02010600030101010101" pitchFamily="2" charset="-122"/>
            </a:endParaRPr>
          </a:p>
        </p:txBody>
      </p:sp>
      <p:sp>
        <p:nvSpPr>
          <p:cNvPr id="40" name="圆角矩形 14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  <a:tileRect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grpSp>
        <p:nvGrpSpPr>
          <p:cNvPr id="5" name="Group 5"/>
          <p:cNvGrpSpPr/>
          <p:nvPr/>
        </p:nvGrpSpPr>
        <p:grpSpPr>
          <a:xfrm>
            <a:off x="3228653" y="4740653"/>
            <a:ext cx="2103899" cy="2221903"/>
            <a:chOff x="-18370" y="-64990"/>
            <a:chExt cx="831170" cy="877790"/>
          </a:xfrm>
        </p:grpSpPr>
        <p:sp>
          <p:nvSpPr>
            <p:cNvPr id="6" name="Freeform 6"/>
            <p:cNvSpPr/>
            <p:nvPr/>
          </p:nvSpPr>
          <p:spPr>
            <a:xfrm>
              <a:off x="-18370" y="-64990"/>
              <a:ext cx="274299" cy="268316"/>
            </a:xfrm>
            <a:custGeom>
              <a:avLst/>
              <a:gdLst/>
              <a:ahLst/>
              <a:cxnLst/>
              <a:rect l="l" t="t" r="r" b="b"/>
              <a:pathLst>
                <a:path w="274299" h="268316">
                  <a:moveTo>
                    <a:pt x="0" y="0"/>
                  </a:moveTo>
                  <a:lnTo>
                    <a:pt x="274299" y="0"/>
                  </a:lnTo>
                  <a:lnTo>
                    <a:pt x="274299" y="268316"/>
                  </a:lnTo>
                  <a:lnTo>
                    <a:pt x="0" y="268316"/>
                  </a:lnTo>
                  <a:close/>
                </a:path>
              </a:pathLst>
            </a:custGeom>
            <a:solidFill>
              <a:srgbClr val="30589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2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40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8" name="Group 8"/>
          <p:cNvGrpSpPr/>
          <p:nvPr/>
        </p:nvGrpSpPr>
        <p:grpSpPr>
          <a:xfrm>
            <a:off x="2727019" y="1158104"/>
            <a:ext cx="450979" cy="444109"/>
            <a:chOff x="0" y="0"/>
            <a:chExt cx="178165" cy="175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165" cy="175450"/>
            </a:xfrm>
            <a:custGeom>
              <a:avLst/>
              <a:gdLst/>
              <a:ahLst/>
              <a:cxnLst/>
              <a:rect l="l" t="t" r="r" b="b"/>
              <a:pathLst>
                <a:path w="178165" h="175450">
                  <a:moveTo>
                    <a:pt x="0" y="0"/>
                  </a:moveTo>
                  <a:lnTo>
                    <a:pt x="178165" y="0"/>
                  </a:lnTo>
                  <a:lnTo>
                    <a:pt x="178165" y="175450"/>
                  </a:lnTo>
                  <a:lnTo>
                    <a:pt x="0" y="175450"/>
                  </a:lnTo>
                  <a:close/>
                </a:path>
              </a:pathLst>
            </a:custGeom>
            <a:solidFill>
              <a:srgbClr val="30589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2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40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11" name="Group 11"/>
          <p:cNvGrpSpPr/>
          <p:nvPr/>
        </p:nvGrpSpPr>
        <p:grpSpPr>
          <a:xfrm>
            <a:off x="8194486" y="4849181"/>
            <a:ext cx="325637" cy="351272"/>
            <a:chOff x="0" y="0"/>
            <a:chExt cx="128647" cy="1387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647" cy="138774"/>
            </a:xfrm>
            <a:custGeom>
              <a:avLst/>
              <a:gdLst/>
              <a:ahLst/>
              <a:cxnLst/>
              <a:rect l="l" t="t" r="r" b="b"/>
              <a:pathLst>
                <a:path w="128647" h="138774">
                  <a:moveTo>
                    <a:pt x="0" y="0"/>
                  </a:moveTo>
                  <a:lnTo>
                    <a:pt x="128647" y="0"/>
                  </a:lnTo>
                  <a:lnTo>
                    <a:pt x="128647" y="138774"/>
                  </a:lnTo>
                  <a:lnTo>
                    <a:pt x="0" y="138774"/>
                  </a:lnTo>
                  <a:close/>
                </a:path>
              </a:pathLst>
            </a:custGeom>
            <a:solidFill>
              <a:srgbClr val="30589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2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40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14" name="Group 14"/>
          <p:cNvGrpSpPr/>
          <p:nvPr/>
        </p:nvGrpSpPr>
        <p:grpSpPr>
          <a:xfrm>
            <a:off x="3767749" y="5472938"/>
            <a:ext cx="1727633" cy="394555"/>
            <a:chOff x="0" y="0"/>
            <a:chExt cx="3455266" cy="789110"/>
          </a:xfrm>
          <a:noFill/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455266" cy="789110"/>
              <a:chOff x="0" y="0"/>
              <a:chExt cx="630757" cy="144052"/>
            </a:xfrm>
            <a:grpFill/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0757" cy="144052"/>
              </a:xfrm>
              <a:custGeom>
                <a:avLst/>
                <a:gdLst/>
                <a:ahLst/>
                <a:cxnLst/>
                <a:rect l="l" t="t" r="r" b="b"/>
                <a:pathLst>
                  <a:path w="630757" h="144052">
                    <a:moveTo>
                      <a:pt x="0" y="0"/>
                    </a:moveTo>
                    <a:lnTo>
                      <a:pt x="630757" y="0"/>
                    </a:lnTo>
                    <a:lnTo>
                      <a:pt x="630757" y="144052"/>
                    </a:lnTo>
                    <a:lnTo>
                      <a:pt x="0" y="14405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80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60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20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400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600" algn="l" defTabSz="609600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/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39958" y="82412"/>
              <a:ext cx="3281998" cy="627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2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40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>
                <a:lnSpc>
                  <a:spcPts val="2450"/>
                </a:lnSpc>
              </a:pPr>
              <a:r>
                <a:rPr lang="zh-CN" sz="1750">
                  <a:latin typeface="宋体" panose="02010600030101010101" pitchFamily="2" charset="-122"/>
                  <a:ea typeface="思源黑体-粗体"/>
                  <a:sym typeface="宋体" panose="02010600030101010101" pitchFamily="2" charset="-122"/>
                </a:rPr>
                <a:t>汇报人：</a:t>
              </a:r>
              <a:r>
                <a:rPr lang="zh-CN" altLang="en-US" sz="1750">
                  <a:latin typeface="宋体" panose="02010600030101010101" pitchFamily="2" charset="-122"/>
                  <a:ea typeface="思源黑体-粗体"/>
                  <a:sym typeface="宋体" panose="02010600030101010101" pitchFamily="2" charset="-122"/>
                </a:rPr>
                <a:t>第</a:t>
              </a:r>
              <a:r>
                <a:rPr lang="en-US" altLang="zh-CN" sz="1750">
                  <a:latin typeface="宋体" panose="02010600030101010101" pitchFamily="2" charset="-122"/>
                  <a:ea typeface="思源黑体-粗体"/>
                  <a:sym typeface="宋体" panose="02010600030101010101" pitchFamily="2" charset="-122"/>
                </a:rPr>
                <a:t>5</a:t>
              </a:r>
              <a:r>
                <a:rPr lang="zh-CN" altLang="en-US" sz="1750">
                  <a:latin typeface="宋体" panose="02010600030101010101" pitchFamily="2" charset="-122"/>
                  <a:ea typeface="思源黑体-粗体"/>
                  <a:sym typeface="宋体" panose="02010600030101010101" pitchFamily="2" charset="-122"/>
                </a:rPr>
                <a:t>组</a:t>
              </a:r>
              <a:endParaRPr lang="zh-CN" sz="1750">
                <a:latin typeface="宋体" panose="02010600030101010101" pitchFamily="2" charset="-122"/>
                <a:ea typeface="思源黑体-粗体"/>
                <a:sym typeface="宋体" panose="02010600030101010101" pitchFamily="2" charset="-122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35479" y="4504412"/>
            <a:ext cx="5723439" cy="2321966"/>
            <a:chOff x="-772194" y="0"/>
            <a:chExt cx="2261112" cy="9173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8918" cy="172582"/>
            </a:xfrm>
            <a:custGeom>
              <a:avLst/>
              <a:gdLst/>
              <a:ahLst/>
              <a:cxnLst/>
              <a:rect l="l" t="t" r="r" b="b"/>
              <a:pathLst>
                <a:path w="1488918" h="172582">
                  <a:moveTo>
                    <a:pt x="0" y="0"/>
                  </a:moveTo>
                  <a:lnTo>
                    <a:pt x="1488918" y="0"/>
                  </a:lnTo>
                  <a:lnTo>
                    <a:pt x="1488918" y="172582"/>
                  </a:lnTo>
                  <a:lnTo>
                    <a:pt x="0" y="172582"/>
                  </a:lnTo>
                  <a:close/>
                </a:path>
              </a:pathLst>
            </a:custGeom>
            <a:solidFill>
              <a:srgbClr val="30589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-772194" y="75943"/>
              <a:ext cx="812800" cy="8413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2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40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600" algn="l" defTabSz="60960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22" name="TextBox 22"/>
          <p:cNvSpPr txBox="1"/>
          <p:nvPr/>
        </p:nvSpPr>
        <p:spPr>
          <a:xfrm>
            <a:off x="723989" y="-24073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23989" y="6112710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583519" y="-16103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583519" y="6120680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18721" y="-24073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18721" y="6112710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078252" y="-16103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078252" y="6120680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69216" y="-24073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00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69216" y="6112710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00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328747" y="-16103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00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28747" y="6120680"/>
            <a:ext cx="350630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5620"/>
              </a:lnSpc>
            </a:pPr>
            <a:r>
              <a:rPr lang="zh-CN" sz="4460" spc="-891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</a:t>
            </a:r>
            <a:endParaRPr lang="zh-CN" sz="4460" spc="-891">
              <a:solidFill>
                <a:srgbClr val="00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018160" y="1611307"/>
            <a:ext cx="5791313" cy="2757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11005"/>
              </a:lnSpc>
            </a:pPr>
            <a:r>
              <a:rPr lang="zh-CN" sz="8730">
                <a:solidFill>
                  <a:srgbClr val="000000"/>
                </a:solidFill>
                <a:latin typeface="宋体" panose="02010600030101010101" pitchFamily="2" charset="-122"/>
                <a:ea typeface="思源黑体-超粗体 3"/>
                <a:sym typeface="宋体" panose="02010600030101010101" pitchFamily="2" charset="-122"/>
              </a:rPr>
              <a:t>谢谢您的</a:t>
            </a:r>
            <a:endParaRPr lang="zh-CN" sz="8730">
              <a:solidFill>
                <a:srgbClr val="000000"/>
              </a:solidFill>
              <a:latin typeface="宋体" panose="02010600030101010101" pitchFamily="2" charset="-122"/>
              <a:ea typeface="思源黑体-超粗体 3"/>
              <a:sym typeface="宋体" panose="02010600030101010101" pitchFamily="2" charset="-122"/>
            </a:endParaRPr>
          </a:p>
          <a:p>
            <a:pPr algn="ctr">
              <a:lnSpc>
                <a:spcPts val="11005"/>
              </a:lnSpc>
            </a:pPr>
            <a:r>
              <a:rPr lang="zh-CN" sz="8730">
                <a:solidFill>
                  <a:srgbClr val="0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·观看·</a:t>
            </a:r>
            <a:endParaRPr lang="zh-CN" sz="8730">
              <a:solidFill>
                <a:srgbClr val="00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619294" y="5507106"/>
            <a:ext cx="2458245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r">
              <a:lnSpc>
                <a:spcPts val="2450"/>
              </a:lnSpc>
            </a:pPr>
            <a:r>
              <a:rPr lang="zh-CN" sz="1750">
                <a:solidFill>
                  <a:srgbClr val="000000"/>
                </a:solidFill>
                <a:latin typeface="宋体" panose="02010600030101010101" pitchFamily="2" charset="-122"/>
                <a:ea typeface="思源黑体-粗体"/>
                <a:sym typeface="宋体" panose="02010600030101010101" pitchFamily="2" charset="-122"/>
              </a:rPr>
              <a:t>汇报时间：</a:t>
            </a:r>
            <a:r>
              <a:rPr lang="en-US" altLang="zh-CN" sz="1750">
                <a:solidFill>
                  <a:srgbClr val="000000"/>
                </a:solidFill>
                <a:latin typeface="宋体" panose="02010600030101010101" pitchFamily="2" charset="-122"/>
                <a:ea typeface="思源黑体-粗体"/>
                <a:sym typeface="宋体" panose="02010600030101010101" pitchFamily="2" charset="-122"/>
              </a:rPr>
              <a:t>2023</a:t>
            </a:r>
            <a:r>
              <a:rPr lang="zh-CN" altLang="en-US" sz="1750">
                <a:solidFill>
                  <a:srgbClr val="000000"/>
                </a:solidFill>
                <a:latin typeface="宋体" panose="02010600030101010101" pitchFamily="2" charset="-122"/>
                <a:ea typeface="思源黑体-粗体"/>
                <a:sym typeface="宋体" panose="02010600030101010101" pitchFamily="2" charset="-122"/>
              </a:rPr>
              <a:t>-</a:t>
            </a:r>
            <a:r>
              <a:rPr lang="en-US" altLang="zh-CN" sz="1750">
                <a:solidFill>
                  <a:srgbClr val="000000"/>
                </a:solidFill>
                <a:latin typeface="宋体" panose="02010600030101010101" pitchFamily="2" charset="-122"/>
                <a:ea typeface="思源黑体-粗体"/>
                <a:sym typeface="宋体" panose="02010600030101010101" pitchFamily="2" charset="-122"/>
              </a:rPr>
              <a:t>11</a:t>
            </a:r>
            <a:r>
              <a:rPr lang="zh-CN" altLang="en-US" sz="1750">
                <a:solidFill>
                  <a:srgbClr val="000000"/>
                </a:solidFill>
                <a:latin typeface="宋体" panose="02010600030101010101" pitchFamily="2" charset="-122"/>
                <a:ea typeface="思源黑体-粗体"/>
                <a:sym typeface="宋体" panose="02010600030101010101" pitchFamily="2" charset="-122"/>
              </a:rPr>
              <a:t>-</a:t>
            </a:r>
            <a:r>
              <a:rPr lang="en-US" altLang="zh-CN" sz="1750">
                <a:solidFill>
                  <a:srgbClr val="000000"/>
                </a:solidFill>
                <a:latin typeface="宋体" panose="02010600030101010101" pitchFamily="2" charset="-122"/>
                <a:ea typeface="思源黑体-粗体"/>
                <a:sym typeface="宋体" panose="02010600030101010101" pitchFamily="2" charset="-122"/>
              </a:rPr>
              <a:t>15</a:t>
            </a:r>
            <a:endParaRPr lang="zh-CN" sz="1750">
              <a:solidFill>
                <a:srgbClr val="000000"/>
              </a:solidFill>
              <a:latin typeface="宋体" panose="02010600030101010101" pitchFamily="2" charset="-122"/>
              <a:ea typeface="思源黑体-粗体"/>
              <a:sym typeface="宋体" panose="02010600030101010101" pitchFamily="2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018092" y="4504373"/>
            <a:ext cx="5270235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2340"/>
              </a:lnSpc>
            </a:pPr>
            <a:r>
              <a:rPr lang="en-US" altLang="zh-CN" sz="1670" spc="11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THANK</a:t>
            </a:r>
            <a:r>
              <a:rPr lang="zh-CN" altLang="zh-CN" sz="1670" spc="11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1670" spc="11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YOU</a:t>
            </a:r>
            <a:r>
              <a:rPr lang="zh-CN" altLang="en-US" sz="1670" spc="111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！</a:t>
            </a:r>
            <a:endParaRPr lang="zh-CN" sz="1670" spc="11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commondata" val="eyJoZGlkIjoiOTQwMDBjNjI4YzhhZDQ5MThlZGQwMDgzYzQ5YjEzN2I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1486</Words>
  <Application>WPS 演示</Application>
  <PresentationFormat>全屏显示(4:3)</PresentationFormat>
  <Paragraphs>203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8" baseType="lpstr">
      <vt:lpstr>Arial</vt:lpstr>
      <vt:lpstr>宋体</vt:lpstr>
      <vt:lpstr>Wingdings</vt:lpstr>
      <vt:lpstr>Calibri</vt:lpstr>
      <vt:lpstr>Open Sans</vt:lpstr>
      <vt:lpstr>Segoe Print</vt:lpstr>
      <vt:lpstr>微软雅黑</vt:lpstr>
      <vt:lpstr>思源黑体 1 Bold</vt:lpstr>
      <vt:lpstr>黑体</vt:lpstr>
      <vt:lpstr>fnsystSCBold</vt:lpstr>
      <vt:lpstr>Calibri</vt:lpstr>
      <vt:lpstr>Arial</vt:lpstr>
      <vt:lpstr>Open Sans Light</vt:lpstr>
      <vt:lpstr>Times New Roman</vt:lpstr>
      <vt:lpstr>Open Sans</vt:lpstr>
      <vt:lpstr>思源等宽 N</vt:lpstr>
      <vt:lpstr>等线</vt:lpstr>
      <vt:lpstr>Arial Unicode MS</vt:lpstr>
      <vt:lpstr>Calibri Light</vt:lpstr>
      <vt:lpstr>思源黑体-粗体</vt:lpstr>
      <vt:lpstr>思源黑体-超粗体 3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小朋友</cp:lastModifiedBy>
  <cp:revision>4</cp:revision>
  <dcterms:created xsi:type="dcterms:W3CDTF">2023-11-13T15:27:00Z</dcterms:created>
  <dcterms:modified xsi:type="dcterms:W3CDTF">2023-11-14T11:58:39Z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513C3A3C46E44959945203DD273933B4_12</vt:lpwstr>
  </property>
  <property fmtid="{D5CDD505-2E9C-101B-9397-08002B2CF9AE}" pid="3" name="KSOProductBuildVer">
    <vt:lpwstr>2052-12.1.0.15712</vt:lpwstr>
  </property>
</Properties>
</file>