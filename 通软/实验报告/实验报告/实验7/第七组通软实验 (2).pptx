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0" r:id="rId6"/>
    <p:sldId id="259" r:id="rId7"/>
    <p:sldId id="316" r:id="rId8"/>
    <p:sldId id="262" r:id="rId9"/>
    <p:sldId id="271" r:id="rId10"/>
    <p:sldId id="281" r:id="rId11"/>
    <p:sldId id="272" r:id="rId12"/>
    <p:sldId id="298" r:id="rId13"/>
    <p:sldId id="311" r:id="rId14"/>
    <p:sldId id="317" r:id="rId15"/>
    <p:sldId id="310" r:id="rId16"/>
    <p:sldId id="306" r:id="rId17"/>
    <p:sldId id="313" r:id="rId18"/>
    <p:sldId id="312" r:id="rId19"/>
    <p:sldId id="307" r:id="rId20"/>
    <p:sldId id="314" r:id="rId21"/>
    <p:sldId id="315" r:id="rId22"/>
    <p:sldId id="338" r:id="rId23"/>
    <p:sldId id="341" r:id="rId24"/>
    <p:sldId id="340" r:id="rId25"/>
    <p:sldId id="269" r:id="rId26"/>
    <p:sldId id="273" r:id="rId27"/>
    <p:sldId id="300" r:id="rId28"/>
    <p:sldId id="268" r:id="rId29"/>
  </p:sldIdLst>
  <p:sldSz cx="12192000" cy="6858000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6" userDrawn="1">
          <p15:clr>
            <a:srgbClr val="A4A3A4"/>
          </p15:clr>
        </p15:guide>
        <p15:guide id="2" pos="38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886C"/>
    <a:srgbClr val="EEEFF5"/>
    <a:srgbClr val="4E3ADF"/>
    <a:srgbClr val="631BD0"/>
    <a:srgbClr val="375B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17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210" y="96"/>
      </p:cViewPr>
      <p:guideLst>
        <p:guide orient="horz" pos="2176"/>
        <p:guide pos="38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gs" Target="tags/tag2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B10D18-1587-493F-8E68-BCAA0B75BB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32B3CD-6C8D-4C3E-9297-A56709E68F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2B3CD-6C8D-4C3E-9297-A56709E68F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2B3CD-6C8D-4C3E-9297-A56709E68F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2B3CD-6C8D-4C3E-9297-A56709E68F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2B3CD-6C8D-4C3E-9297-A56709E68F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2B3CD-6C8D-4C3E-9297-A56709E68F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2B3CD-6C8D-4C3E-9297-A56709E68F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2B3CD-6C8D-4C3E-9297-A56709E68F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2B3CD-6C8D-4C3E-9297-A56709E68F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2B3CD-6C8D-4C3E-9297-A56709E68F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2B3CD-6C8D-4C3E-9297-A56709E68F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2B3CD-6C8D-4C3E-9297-A56709E68F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2B3CD-6C8D-4C3E-9297-A56709E68F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2B3CD-6C8D-4C3E-9297-A56709E68F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2B3CD-6C8D-4C3E-9297-A56709E68F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2B3CD-6C8D-4C3E-9297-A56709E68F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2B3CD-6C8D-4C3E-9297-A56709E68F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2B3CD-6C8D-4C3E-9297-A56709E68F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2B3CD-6C8D-4C3E-9297-A56709E68F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2B3CD-6C8D-4C3E-9297-A56709E68F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2B3CD-6C8D-4C3E-9297-A56709E68F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2B3CD-6C8D-4C3E-9297-A56709E68F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2B3CD-6C8D-4C3E-9297-A56709E68F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2B3CD-6C8D-4C3E-9297-A56709E68F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2B3CD-6C8D-4C3E-9297-A56709E68F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88460-F461-4FED-810A-A2208B1A37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4F38A-14A5-4E5D-9257-12F798496B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000">
        <p:random/>
      </p:transition>
    </mc:Choice>
    <mc:Fallback>
      <p:transition spd="slow" advTm="4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88460-F461-4FED-810A-A2208B1A37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4F38A-14A5-4E5D-9257-12F798496B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000">
        <p:random/>
      </p:transition>
    </mc:Choice>
    <mc:Fallback>
      <p:transition spd="slow" advTm="4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88460-F461-4FED-810A-A2208B1A37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4F38A-14A5-4E5D-9257-12F798496B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000">
        <p:random/>
      </p:transition>
    </mc:Choice>
    <mc:Fallback>
      <p:transition spd="slow" advTm="4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88460-F461-4FED-810A-A2208B1A37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4F38A-14A5-4E5D-9257-12F798496B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000">
        <p:random/>
      </p:transition>
    </mc:Choice>
    <mc:Fallback>
      <p:transition spd="slow" advTm="4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88460-F461-4FED-810A-A2208B1A37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4F38A-14A5-4E5D-9257-12F798496B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000">
        <p:random/>
      </p:transition>
    </mc:Choice>
    <mc:Fallback>
      <p:transition spd="slow" advTm="4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88460-F461-4FED-810A-A2208B1A37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4F38A-14A5-4E5D-9257-12F798496B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000">
        <p:random/>
      </p:transition>
    </mc:Choice>
    <mc:Fallback>
      <p:transition spd="slow" advTm="4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88460-F461-4FED-810A-A2208B1A37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4F38A-14A5-4E5D-9257-12F798496B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000">
        <p:random/>
      </p:transition>
    </mc:Choice>
    <mc:Fallback>
      <p:transition spd="slow" advTm="4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88460-F461-4FED-810A-A2208B1A37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4F38A-14A5-4E5D-9257-12F798496B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000">
        <p:random/>
      </p:transition>
    </mc:Choice>
    <mc:Fallback>
      <p:transition spd="slow" advTm="4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88460-F461-4FED-810A-A2208B1A37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4F38A-14A5-4E5D-9257-12F798496B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000">
        <p:random/>
      </p:transition>
    </mc:Choice>
    <mc:Fallback>
      <p:transition spd="slow" advTm="4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88460-F461-4FED-810A-A2208B1A37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4F38A-14A5-4E5D-9257-12F798496B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000">
        <p:random/>
      </p:transition>
    </mc:Choice>
    <mc:Fallback>
      <p:transition spd="slow" advTm="4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88460-F461-4FED-810A-A2208B1A37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4F38A-14A5-4E5D-9257-12F798496B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000">
        <p:random/>
      </p:transition>
    </mc:Choice>
    <mc:Fallback>
      <p:transition spd="slow" advTm="4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88460-F461-4FED-810A-A2208B1A37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A4F38A-14A5-4E5D-9257-12F798496B7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 advTm="4000">
        <p:random/>
      </p:transition>
    </mc:Choice>
    <mc:Fallback>
      <p:transition spd="slow" advTm="4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tags" Target="../tags/tag8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tags" Target="../tags/tag9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tags" Target="../tags/tag10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tags" Target="../tags/tag12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tags" Target="../tags/tag13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tags" Target="../tags/tag14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1" Type="http://schemas.openxmlformats.org/officeDocument/2006/relationships/tags" Target="../tags/tag15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tags" Target="../tags/tag16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tags" Target="../tags/tag17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1" Type="http://schemas.openxmlformats.org/officeDocument/2006/relationships/tags" Target="../tags/tag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4506902" y="1777233"/>
            <a:ext cx="6937068" cy="1537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5108575" algn="l"/>
              </a:tabLst>
            </a:pPr>
            <a:r>
              <a: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第七组</a:t>
            </a:r>
            <a:endParaRPr lang="zh-CN" altLang="en-US" sz="5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ctr">
              <a:tabLst>
                <a:tab pos="5108575" algn="l"/>
              </a:tabLst>
            </a:pPr>
            <a:r>
              <a:rPr lang="zh-CN" alt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256色/真彩图的BMP图像旋转</a:t>
            </a:r>
            <a:endParaRPr lang="zh-CN" altLang="en-US" sz="4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011420" y="3936365"/>
            <a:ext cx="6144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5108575" algn="l"/>
              </a:tabLst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rPr>
              <a:t>张勤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rPr>
              <a:t> 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rPr>
              <a:t>冯圣杰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rPr>
              <a:t> 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rPr>
              <a:t>邓健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rPr>
              <a:t> 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rPr>
              <a:t>杨奕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rPr>
              <a:t> 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rPr>
              <a:t>秦生林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rPr>
              <a:t> 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rPr>
              <a:t>周彦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rPr>
              <a:t>屿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书体坊郭小语钢笔楷体" panose="02010601030101010101" pitchFamily="2" charset="-122"/>
              <a:ea typeface="书体坊郭小语钢笔楷体" panose="02010601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160987" y="2110240"/>
            <a:ext cx="9085913" cy="3798017"/>
            <a:chOff x="921907" y="1698321"/>
            <a:chExt cx="9085913" cy="3798017"/>
          </a:xfrm>
        </p:grpSpPr>
        <p:grpSp>
          <p:nvGrpSpPr>
            <p:cNvPr id="29" name="组合 28"/>
            <p:cNvGrpSpPr/>
            <p:nvPr/>
          </p:nvGrpSpPr>
          <p:grpSpPr>
            <a:xfrm>
              <a:off x="921907" y="1698321"/>
              <a:ext cx="4265543" cy="2067338"/>
              <a:chOff x="921907" y="1698321"/>
              <a:chExt cx="4265543" cy="2067338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921907" y="1698321"/>
                <a:ext cx="2067338" cy="206733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6600" b="1" dirty="0">
                    <a:solidFill>
                      <a:srgbClr val="79886C"/>
                    </a:solidFill>
                    <a:latin typeface="MNgaiHK-Bold" panose="00000800000000000000" pitchFamily="50" charset="-128"/>
                    <a:ea typeface="MNgaiHK-Bold" panose="00000800000000000000" pitchFamily="50" charset="-128"/>
                  </a:rPr>
                  <a:t>01</a:t>
                </a:r>
                <a:endParaRPr lang="zh-CN" altLang="en-US" sz="6600" b="1" dirty="0">
                  <a:solidFill>
                    <a:srgbClr val="79886C"/>
                  </a:solidFill>
                  <a:latin typeface="MNgaiHK-Bold" panose="00000800000000000000" pitchFamily="50" charset="-128"/>
                  <a:ea typeface="MNgaiHK-Bold" panose="00000800000000000000" pitchFamily="50" charset="-128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561973" y="2356387"/>
                <a:ext cx="2625477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书体坊郭小语钢笔楷体" panose="02010601030101010101" pitchFamily="2" charset="-122"/>
                    <a:ea typeface="书体坊郭小语钢笔楷体" panose="02010601030101010101" pitchFamily="2" charset="-122"/>
                  </a:rPr>
                  <a:t>引言与</a:t>
                </a:r>
                <a:r>
                  <a:rPr lang="zh-CN" altLang="en-US" sz="2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书体坊郭小语钢笔楷体" panose="02010601030101010101" pitchFamily="2" charset="-122"/>
                    <a:ea typeface="书体坊郭小语钢笔楷体" panose="02010601030101010101" pitchFamily="2" charset="-122"/>
                  </a:rPr>
                  <a:t>要求</a:t>
                </a:r>
                <a:endParaRPr lang="zh-CN" altLang="en-US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5658731" y="1698321"/>
              <a:ext cx="4349089" cy="2067338"/>
              <a:chOff x="6374350" y="1698321"/>
              <a:chExt cx="4349089" cy="20673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374350" y="1698321"/>
                <a:ext cx="2067338" cy="206733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6600" b="1" dirty="0">
                    <a:solidFill>
                      <a:srgbClr val="79886C"/>
                    </a:solidFill>
                    <a:latin typeface="MNgaiHK-Bold" panose="00000800000000000000" pitchFamily="50" charset="-128"/>
                    <a:ea typeface="MNgaiHK-Bold" panose="00000800000000000000" pitchFamily="50" charset="-128"/>
                  </a:rPr>
                  <a:t>02</a:t>
                </a:r>
                <a:endParaRPr lang="zh-CN" altLang="en-US" sz="6600" b="1" dirty="0">
                  <a:solidFill>
                    <a:srgbClr val="79886C"/>
                  </a:solidFill>
                  <a:latin typeface="MNgaiHK-Bold" panose="00000800000000000000" pitchFamily="50" charset="-128"/>
                  <a:ea typeface="MNgaiHK-Bold" panose="00000800000000000000" pitchFamily="50" charset="-128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8097962" y="2356387"/>
                <a:ext cx="2625477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书体坊郭小语钢笔楷体" panose="02010601030101010101" pitchFamily="2" charset="-122"/>
                    <a:ea typeface="书体坊郭小语钢笔楷体" panose="02010601030101010101" pitchFamily="2" charset="-122"/>
                  </a:rPr>
                  <a:t>代码分享</a:t>
                </a:r>
                <a:endParaRPr lang="zh-CN" altLang="en-US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921907" y="3429000"/>
              <a:ext cx="4265543" cy="2067338"/>
              <a:chOff x="921907" y="3925957"/>
              <a:chExt cx="4265543" cy="206733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921907" y="3925957"/>
                <a:ext cx="2067338" cy="206733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6600" b="1" dirty="0">
                    <a:solidFill>
                      <a:srgbClr val="79886C"/>
                    </a:solidFill>
                    <a:latin typeface="MNgaiHK-Bold" panose="00000800000000000000" pitchFamily="50" charset="-128"/>
                    <a:ea typeface="MNgaiHK-Bold" panose="00000800000000000000" pitchFamily="50" charset="-128"/>
                  </a:rPr>
                  <a:t>03</a:t>
                </a:r>
                <a:endParaRPr lang="zh-CN" altLang="en-US" sz="6600" b="1" dirty="0">
                  <a:solidFill>
                    <a:srgbClr val="79886C"/>
                  </a:solidFill>
                  <a:latin typeface="MNgaiHK-Bold" panose="00000800000000000000" pitchFamily="50" charset="-128"/>
                  <a:ea typeface="MNgaiHK-Bold" panose="00000800000000000000" pitchFamily="50" charset="-128"/>
                </a:endParaRPr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2561973" y="4593300"/>
                <a:ext cx="2625477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书体坊郭小语钢笔楷体" panose="02010601030101010101" pitchFamily="2" charset="-122"/>
                    <a:ea typeface="书体坊郭小语钢笔楷体" panose="02010601030101010101" pitchFamily="2" charset="-122"/>
                  </a:rPr>
                  <a:t>结果</a:t>
                </a:r>
                <a:r>
                  <a:rPr lang="zh-CN" altLang="en-US" sz="2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书体坊郭小语钢笔楷体" panose="02010601030101010101" pitchFamily="2" charset="-122"/>
                    <a:ea typeface="书体坊郭小语钢笔楷体" panose="02010601030101010101" pitchFamily="2" charset="-122"/>
                  </a:rPr>
                  <a:t>展示</a:t>
                </a:r>
                <a:endParaRPr lang="zh-CN" altLang="en-US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endParaRPr>
              </a:p>
            </p:txBody>
          </p:sp>
        </p:grpSp>
      </p:grpSp>
      <p:grpSp>
        <p:nvGrpSpPr>
          <p:cNvPr id="36" name="组合 35"/>
          <p:cNvGrpSpPr/>
          <p:nvPr/>
        </p:nvGrpSpPr>
        <p:grpSpPr>
          <a:xfrm>
            <a:off x="2557979" y="766839"/>
            <a:ext cx="4421499" cy="1026353"/>
            <a:chOff x="627579" y="623273"/>
            <a:chExt cx="4421499" cy="1026353"/>
          </a:xfrm>
        </p:grpSpPr>
        <p:sp>
          <p:nvSpPr>
            <p:cNvPr id="33" name="矩形 32"/>
            <p:cNvSpPr/>
            <p:nvPr/>
          </p:nvSpPr>
          <p:spPr>
            <a:xfrm>
              <a:off x="627580" y="623273"/>
              <a:ext cx="3348073" cy="8704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600" dirty="0">
                  <a:solidFill>
                    <a:srgbClr val="79886C"/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目录</a:t>
              </a:r>
              <a:endParaRPr lang="zh-CN" altLang="en-US" sz="3600" dirty="0">
                <a:solidFill>
                  <a:srgbClr val="79886C"/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627579" y="1327681"/>
              <a:ext cx="4421499" cy="321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endPara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endParaRPr>
            </a:p>
          </p:txBody>
        </p:sp>
      </p:grpSp>
      <p:cxnSp>
        <p:nvCxnSpPr>
          <p:cNvPr id="25" name="直接连接符 24"/>
          <p:cNvCxnSpPr/>
          <p:nvPr/>
        </p:nvCxnSpPr>
        <p:spPr>
          <a:xfrm>
            <a:off x="2557979" y="2186440"/>
            <a:ext cx="8688921" cy="0"/>
          </a:xfrm>
          <a:prstGeom prst="line">
            <a:avLst/>
          </a:prstGeom>
          <a:ln>
            <a:solidFill>
              <a:srgbClr val="7988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21375" y="1653125"/>
            <a:ext cx="3719665" cy="34501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9900" b="1" dirty="0">
                <a:solidFill>
                  <a:srgbClr val="79886C"/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rPr>
              <a:t>01</a:t>
            </a:r>
            <a:endParaRPr lang="zh-CN" altLang="en-US" sz="19900" b="1" dirty="0">
              <a:solidFill>
                <a:srgbClr val="79886C"/>
              </a:solidFill>
              <a:latin typeface="书体坊郭小语钢笔楷体" panose="02010601030101010101" pitchFamily="2" charset="-122"/>
              <a:ea typeface="书体坊郭小语钢笔楷体" panose="02010601030101010101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838880" y="2549409"/>
            <a:ext cx="3390790" cy="1103570"/>
            <a:chOff x="6096000" y="3496917"/>
            <a:chExt cx="3390790" cy="1103570"/>
          </a:xfrm>
        </p:grpSpPr>
        <p:sp>
          <p:nvSpPr>
            <p:cNvPr id="3" name="文本框 2"/>
            <p:cNvSpPr txBox="1"/>
            <p:nvPr/>
          </p:nvSpPr>
          <p:spPr>
            <a:xfrm>
              <a:off x="6287770" y="3496917"/>
              <a:ext cx="2625477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dirty="0"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引言</a:t>
              </a:r>
              <a:endParaRPr lang="zh-CN" altLang="en-US" sz="4800" dirty="0">
                <a:latin typeface="书体坊郭小语钢笔楷体" panose="02010601030101010101" pitchFamily="2" charset="-122"/>
                <a:ea typeface="书体坊郭小语钢笔楷体" panose="02010601030101010101" pitchFamily="2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6096000" y="4201707"/>
              <a:ext cx="339079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endParaRPr>
            </a:p>
          </p:txBody>
        </p:sp>
      </p:grpSp>
      <p:cxnSp>
        <p:nvCxnSpPr>
          <p:cNvPr id="10" name="直接连接符 9"/>
          <p:cNvCxnSpPr/>
          <p:nvPr/>
        </p:nvCxnSpPr>
        <p:spPr>
          <a:xfrm>
            <a:off x="5341040" y="3303729"/>
            <a:ext cx="5695260" cy="0"/>
          </a:xfrm>
          <a:prstGeom prst="line">
            <a:avLst/>
          </a:prstGeom>
          <a:ln>
            <a:solidFill>
              <a:srgbClr val="7988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402279" y="271539"/>
            <a:ext cx="4421499" cy="1039053"/>
            <a:chOff x="627579" y="610573"/>
            <a:chExt cx="4421499" cy="1039053"/>
          </a:xfrm>
        </p:grpSpPr>
        <p:sp>
          <p:nvSpPr>
            <p:cNvPr id="6" name="矩形 5"/>
            <p:cNvSpPr/>
            <p:nvPr/>
          </p:nvSpPr>
          <p:spPr>
            <a:xfrm>
              <a:off x="627580" y="610573"/>
              <a:ext cx="4160320" cy="8704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600" dirty="0">
                  <a:solidFill>
                    <a:srgbClr val="79886C"/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引言</a:t>
              </a:r>
              <a:endParaRPr lang="zh-CN" altLang="en-US" sz="3600" dirty="0">
                <a:solidFill>
                  <a:srgbClr val="79886C"/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27579" y="1327681"/>
              <a:ext cx="4421499" cy="321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endPara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3" name="直接连接符 2"/>
          <p:cNvCxnSpPr/>
          <p:nvPr/>
        </p:nvCxnSpPr>
        <p:spPr>
          <a:xfrm>
            <a:off x="1528760" y="988647"/>
            <a:ext cx="10421941" cy="0"/>
          </a:xfrm>
          <a:prstGeom prst="line">
            <a:avLst/>
          </a:prstGeom>
          <a:ln>
            <a:solidFill>
              <a:srgbClr val="7988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775460" y="1141730"/>
            <a:ext cx="9653905" cy="515810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</a:rPr>
              <a:t>       </a:t>
            </a:r>
            <a:r>
              <a:rPr lang="zh-CN" altLang="en-US" sz="2400">
                <a:latin typeface="+mn-ea"/>
                <a:cs typeface="+mn-ea"/>
              </a:rPr>
              <a:t>真彩图（也称为24位图）：使用RGB颜色模式，每个像素由红、绿、蓝三种颜色的组合来表示，每种颜色可以有256种不同的亮度级别，因此可以表示约1677万种颜色。可以呈现丰富的色彩细节和平滑的渐变效果。文件大小通常较大，因为每个像素需要3个字节来存储颜色信息。</a:t>
            </a:r>
            <a:endParaRPr lang="zh-CN" altLang="en-US" sz="2400">
              <a:latin typeface="+mn-ea"/>
              <a:cs typeface="+mn-ea"/>
            </a:endParaRPr>
          </a:p>
          <a:p>
            <a:pPr algn="l"/>
            <a:r>
              <a:rPr lang="en-US" altLang="zh-CN" sz="2400">
                <a:latin typeface="+mn-ea"/>
                <a:cs typeface="+mn-ea"/>
              </a:rPr>
              <a:t>    </a:t>
            </a:r>
            <a:r>
              <a:rPr lang="zh-CN" altLang="en-US" sz="2400">
                <a:latin typeface="+mn-ea"/>
                <a:cs typeface="+mn-ea"/>
              </a:rPr>
              <a:t>256色图：使用索引颜色模式，图像中的每个像素通过一个索引值来指代调色板中的一种颜色，调色板中最多可以包含256种不同的颜色。不能呈现真彩图那样丰富的色彩细节和平滑的渐变效果，但在一些情况下仍可以提供足够的色彩表现力。文件大小通常较小，因为每个像素只需要1个字节来存储颜色索引。</a:t>
            </a:r>
            <a:endParaRPr lang="zh-CN" altLang="en-US" sz="2400">
              <a:latin typeface="+mn-ea"/>
              <a:cs typeface="+mn-ea"/>
            </a:endParaRPr>
          </a:p>
          <a:p>
            <a:pPr algn="l"/>
            <a:r>
              <a:rPr lang="zh-CN" altLang="en-US" sz="2400">
                <a:latin typeface="+mn-ea"/>
                <a:cs typeface="+mn-ea"/>
              </a:rPr>
              <a:t>在进行旋转时，真彩图和256色图的处理也有一些异同点：</a:t>
            </a:r>
            <a:endParaRPr lang="zh-CN" altLang="en-US" sz="2400">
              <a:latin typeface="+mn-ea"/>
              <a:cs typeface="+mn-ea"/>
            </a:endParaRPr>
          </a:p>
          <a:p>
            <a:pPr algn="l"/>
            <a:r>
              <a:rPr lang="en-US" altLang="zh-CN" sz="2400">
                <a:latin typeface="+mn-ea"/>
                <a:cs typeface="+mn-ea"/>
              </a:rPr>
              <a:t>    </a:t>
            </a:r>
            <a:r>
              <a:rPr lang="zh-CN" altLang="en-US" sz="2400">
                <a:latin typeface="+mn-ea"/>
                <a:cs typeface="+mn-ea"/>
              </a:rPr>
              <a:t>真彩图在旋转时可以保持较高的色彩保真度和图像质量，因为它可以表示丰富的色彩细节和平滑的渐变效果。</a:t>
            </a:r>
            <a:endParaRPr lang="zh-CN" altLang="en-US" sz="2400">
              <a:latin typeface="+mn-ea"/>
              <a:cs typeface="+mn-ea"/>
            </a:endParaRPr>
          </a:p>
          <a:p>
            <a:pPr algn="l"/>
            <a:r>
              <a:rPr lang="en-US" altLang="zh-CN" sz="2400">
                <a:latin typeface="+mn-ea"/>
                <a:cs typeface="+mn-ea"/>
              </a:rPr>
              <a:t>    </a:t>
            </a:r>
            <a:r>
              <a:rPr lang="zh-CN" altLang="en-US" sz="2400">
                <a:latin typeface="+mn-ea"/>
                <a:cs typeface="+mn-ea"/>
              </a:rPr>
              <a:t>256色图在旋转时可能会出现色彩失真或者出现明显的色带，因为它的调色板只包含有限的颜色选择，旋转后可能无法准确表现原图的色彩。</a:t>
            </a:r>
            <a:endParaRPr lang="zh-CN" altLang="en-US" sz="2400">
              <a:latin typeface="+mn-ea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1605172302(1)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223760" y="1520190"/>
            <a:ext cx="4478655" cy="4500245"/>
          </a:xfrm>
          <a:prstGeom prst="rect">
            <a:avLst/>
          </a:prstGeom>
        </p:spPr>
      </p:pic>
      <p:sp>
        <p:nvSpPr>
          <p:cNvPr id="40" name="矩形 39"/>
          <p:cNvSpPr/>
          <p:nvPr>
            <p:custDataLst>
              <p:tags r:id="rId3"/>
            </p:custDataLst>
          </p:nvPr>
        </p:nvSpPr>
        <p:spPr>
          <a:xfrm>
            <a:off x="1402080" y="271780"/>
            <a:ext cx="4160520" cy="8705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zh-CN" altLang="en-US" sz="3600" dirty="0">
                <a:solidFill>
                  <a:srgbClr val="79886C"/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rPr>
              <a:t>实验内容与</a:t>
            </a:r>
            <a:r>
              <a:rPr lang="zh-CN" altLang="en-US" sz="3600" dirty="0">
                <a:solidFill>
                  <a:srgbClr val="79886C"/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rPr>
              <a:t>要求</a:t>
            </a:r>
            <a:endParaRPr lang="zh-CN" altLang="en-US" sz="3600" dirty="0">
              <a:solidFill>
                <a:srgbClr val="79886C"/>
              </a:solidFill>
              <a:latin typeface="书体坊郭小语钢笔楷体" panose="02010601030101010101" pitchFamily="2" charset="-122"/>
              <a:ea typeface="书体坊郭小语钢笔楷体" panose="02010601030101010101" pitchFamily="2" charset="-122"/>
            </a:endParaRPr>
          </a:p>
        </p:txBody>
      </p:sp>
      <p:cxnSp>
        <p:nvCxnSpPr>
          <p:cNvPr id="42" name="直接连接符 41"/>
          <p:cNvCxnSpPr/>
          <p:nvPr>
            <p:custDataLst>
              <p:tags r:id="rId4"/>
            </p:custDataLst>
          </p:nvPr>
        </p:nvCxnSpPr>
        <p:spPr>
          <a:xfrm>
            <a:off x="1528760" y="988647"/>
            <a:ext cx="10421941" cy="0"/>
          </a:xfrm>
          <a:prstGeom prst="line">
            <a:avLst/>
          </a:prstGeom>
          <a:ln>
            <a:solidFill>
              <a:srgbClr val="7988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vie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930" y="1520190"/>
            <a:ext cx="6498590" cy="45002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000">
        <p:random/>
      </p:transition>
    </mc:Choice>
    <mc:Fallback>
      <p:transition spd="slow" advTm="400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1402080" y="271780"/>
            <a:ext cx="4160520" cy="8705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600" dirty="0">
                <a:solidFill>
                  <a:srgbClr val="79886C"/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rPr>
              <a:t>实验内容与</a:t>
            </a:r>
            <a:r>
              <a:rPr lang="zh-CN" altLang="en-US" sz="3600" dirty="0">
                <a:solidFill>
                  <a:srgbClr val="79886C"/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rPr>
              <a:t>要求</a:t>
            </a:r>
            <a:endParaRPr lang="zh-CN" altLang="en-US" sz="3600" dirty="0">
              <a:solidFill>
                <a:srgbClr val="79886C"/>
              </a:solidFill>
              <a:latin typeface="书体坊郭小语钢笔楷体" panose="02010601030101010101" pitchFamily="2" charset="-122"/>
              <a:ea typeface="书体坊郭小语钢笔楷体" panose="02010601030101010101" pitchFamily="2" charset="-122"/>
            </a:endParaRPr>
          </a:p>
        </p:txBody>
      </p:sp>
      <p:cxnSp>
        <p:nvCxnSpPr>
          <p:cNvPr id="42" name="直接连接符 41"/>
          <p:cNvCxnSpPr/>
          <p:nvPr/>
        </p:nvCxnSpPr>
        <p:spPr>
          <a:xfrm>
            <a:off x="1528760" y="988647"/>
            <a:ext cx="10421941" cy="0"/>
          </a:xfrm>
          <a:prstGeom prst="line">
            <a:avLst/>
          </a:prstGeom>
          <a:ln>
            <a:solidFill>
              <a:srgbClr val="7988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/>
          <p:cNvSpPr txBox="1"/>
          <p:nvPr/>
        </p:nvSpPr>
        <p:spPr>
          <a:xfrm>
            <a:off x="2277745" y="2172335"/>
            <a:ext cx="8038465" cy="36201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indent="0"/>
            <a:r>
              <a:rPr lang="zh-CN" sz="2400" b="0">
                <a:latin typeface="Calibri" panose="020F0502020204030204" charset="0"/>
                <a:ea typeface="宋体" panose="02010600030101010101" pitchFamily="2" charset="-122"/>
              </a:rPr>
              <a:t>内容：据人机交互，实现</a:t>
            </a:r>
            <a:r>
              <a:rPr lang="en-US" sz="2400" b="0">
                <a:latin typeface="Calibri" panose="020F0502020204030204" charset="0"/>
                <a:ea typeface="宋体" panose="02010600030101010101" pitchFamily="2" charset="-122"/>
              </a:rPr>
              <a:t>256</a:t>
            </a:r>
            <a:r>
              <a:rPr lang="zh-CN" sz="2400" b="0">
                <a:latin typeface="Calibri" panose="020F0502020204030204" charset="0"/>
                <a:ea typeface="宋体" panose="02010600030101010101" pitchFamily="2" charset="-122"/>
              </a:rPr>
              <a:t>色</a:t>
            </a:r>
            <a:r>
              <a:rPr lang="en-US" sz="2400" b="0">
                <a:latin typeface="Calibri" panose="020F0502020204030204" charset="0"/>
                <a:ea typeface="宋体" panose="02010600030101010101" pitchFamily="2" charset="-122"/>
              </a:rPr>
              <a:t>/</a:t>
            </a:r>
            <a:r>
              <a:rPr lang="zh-CN" sz="2400" b="0">
                <a:latin typeface="Calibri" panose="020F0502020204030204" charset="0"/>
                <a:ea typeface="宋体" panose="02010600030101010101" pitchFamily="2" charset="-122"/>
              </a:rPr>
              <a:t>真彩图的顺时针</a:t>
            </a:r>
            <a:r>
              <a:rPr lang="en-US" sz="2400" b="0">
                <a:latin typeface="Calibri" panose="020F0502020204030204" charset="0"/>
                <a:ea typeface="宋体" panose="02010600030101010101" pitchFamily="2" charset="-122"/>
              </a:rPr>
              <a:t>/</a:t>
            </a:r>
            <a:r>
              <a:rPr lang="zh-CN" sz="2400" b="0">
                <a:latin typeface="Calibri" panose="020F0502020204030204" charset="0"/>
                <a:ea typeface="宋体" panose="02010600030101010101" pitchFamily="2" charset="-122"/>
              </a:rPr>
              <a:t>逆时针</a:t>
            </a:r>
            <a:r>
              <a:rPr lang="en-US" sz="2400" b="0">
                <a:latin typeface="Calibri" panose="020F0502020204030204" charset="0"/>
                <a:ea typeface="宋体" panose="02010600030101010101" pitchFamily="2" charset="-122"/>
              </a:rPr>
              <a:t>90</a:t>
            </a:r>
            <a:r>
              <a:rPr lang="zh-CN" sz="2400" b="0">
                <a:latin typeface="Calibri" panose="020F0502020204030204" charset="0"/>
                <a:ea typeface="宋体" panose="02010600030101010101" pitchFamily="2" charset="-122"/>
              </a:rPr>
              <a:t>度旋转（输入允许：图像类型</a:t>
            </a:r>
            <a:r>
              <a:rPr lang="en-US" sz="2400" b="0">
                <a:latin typeface="Calibri" panose="020F0502020204030204" charset="0"/>
                <a:ea typeface="宋体" panose="02010600030101010101" pitchFamily="2" charset="-122"/>
              </a:rPr>
              <a:t>+</a:t>
            </a:r>
            <a:r>
              <a:rPr lang="zh-CN" sz="2400" b="0">
                <a:latin typeface="Calibri" panose="020F0502020204030204" charset="0"/>
                <a:ea typeface="宋体" panose="02010600030101010101" pitchFamily="2" charset="-122"/>
              </a:rPr>
              <a:t>旋转方向 任意组合）。</a:t>
            </a:r>
            <a:endParaRPr lang="zh-CN" sz="2400" b="0">
              <a:latin typeface="Calibri" panose="020F0502020204030204" charset="0"/>
              <a:ea typeface="宋体" panose="02010600030101010101" pitchFamily="2" charset="-122"/>
            </a:endParaRPr>
          </a:p>
          <a:p>
            <a:pPr indent="0"/>
            <a:r>
              <a:rPr lang="zh-CN" sz="2400" b="0">
                <a:latin typeface="Calibri" panose="020F0502020204030204" charset="0"/>
                <a:ea typeface="宋体" panose="02010600030101010101" pitchFamily="2" charset="-122"/>
              </a:rPr>
              <a:t>要求：</a:t>
            </a:r>
            <a:endParaRPr lang="zh-CN" sz="2400" b="0">
              <a:latin typeface="Calibri" panose="020F0502020204030204" charset="0"/>
              <a:ea typeface="宋体" panose="02010600030101010101" pitchFamily="2" charset="-122"/>
            </a:endParaRPr>
          </a:p>
          <a:p>
            <a:pPr indent="0"/>
            <a:r>
              <a:rPr lang="zh-CN" sz="2400" b="0">
                <a:latin typeface="Calibri" panose="020F0502020204030204" charset="0"/>
                <a:ea typeface="宋体" panose="02010600030101010101" pitchFamily="2" charset="-122"/>
              </a:rPr>
              <a:t>1、附上旋转后的图像；</a:t>
            </a:r>
            <a:endParaRPr lang="zh-CN" sz="2400" b="0">
              <a:latin typeface="Calibri" panose="020F0502020204030204" charset="0"/>
              <a:ea typeface="宋体" panose="02010600030101010101" pitchFamily="2" charset="-122"/>
            </a:endParaRPr>
          </a:p>
          <a:p>
            <a:pPr indent="0"/>
            <a:r>
              <a:rPr lang="zh-CN" altLang="en-US" sz="2400" b="0">
                <a:latin typeface="Calibri" panose="020F0502020204030204" charset="0"/>
                <a:ea typeface="宋体" panose="02010600030101010101" pitchFamily="2" charset="-122"/>
              </a:rPr>
              <a:t>2、打印旋转前后的文件大小（bfsize），偏移（bfOffBits），图像宽度（biWidth），图像高度（biHeight)，位深（biBitCount），调色板（biPlanes）（如果存在）；</a:t>
            </a:r>
            <a:endParaRPr lang="zh-CN" altLang="en-US" sz="2400" b="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592347" y="1653125"/>
            <a:ext cx="3719665" cy="34501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9900" b="1" dirty="0">
                <a:solidFill>
                  <a:srgbClr val="79886C"/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rPr>
              <a:t>02</a:t>
            </a:r>
            <a:endParaRPr lang="zh-CN" altLang="en-US" sz="19900" b="1" dirty="0">
              <a:solidFill>
                <a:srgbClr val="79886C"/>
              </a:solidFill>
              <a:latin typeface="书体坊郭小语钢笔楷体" panose="02010601030101010101" pitchFamily="2" charset="-122"/>
              <a:ea typeface="书体坊郭小语钢笔楷体" panose="02010601030101010101" pitchFamily="2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428124" y="2598939"/>
            <a:ext cx="3390790" cy="1103570"/>
            <a:chOff x="6096000" y="3496917"/>
            <a:chExt cx="3390790" cy="1103570"/>
          </a:xfrm>
        </p:grpSpPr>
        <p:sp>
          <p:nvSpPr>
            <p:cNvPr id="11" name="文本框 10"/>
            <p:cNvSpPr txBox="1"/>
            <p:nvPr/>
          </p:nvSpPr>
          <p:spPr>
            <a:xfrm>
              <a:off x="6230620" y="3496917"/>
              <a:ext cx="2625477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dirty="0"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代码分享</a:t>
              </a:r>
              <a:endParaRPr lang="zh-CN" altLang="en-US" sz="4800" dirty="0">
                <a:latin typeface="书体坊郭小语钢笔楷体" panose="02010601030101010101" pitchFamily="2" charset="-122"/>
                <a:ea typeface="书体坊郭小语钢笔楷体" panose="02010601030101010101" pitchFamily="2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096000" y="4201707"/>
              <a:ext cx="339079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endParaRPr>
            </a:p>
          </p:txBody>
        </p:sp>
      </p:grpSp>
      <p:cxnSp>
        <p:nvCxnSpPr>
          <p:cNvPr id="14" name="直接连接符 13"/>
          <p:cNvCxnSpPr/>
          <p:nvPr/>
        </p:nvCxnSpPr>
        <p:spPr>
          <a:xfrm>
            <a:off x="5428124" y="3303729"/>
            <a:ext cx="5695260" cy="0"/>
          </a:xfrm>
          <a:prstGeom prst="line">
            <a:avLst/>
          </a:prstGeom>
          <a:ln>
            <a:solidFill>
              <a:srgbClr val="7988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/>
        </p:nvSpPr>
        <p:spPr>
          <a:xfrm>
            <a:off x="1402080" y="271780"/>
            <a:ext cx="4160520" cy="8705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600" dirty="0">
                <a:solidFill>
                  <a:srgbClr val="79886C"/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rPr>
              <a:t>代码</a:t>
            </a:r>
            <a:r>
              <a:rPr lang="zh-CN" altLang="en-US" sz="3600" dirty="0">
                <a:solidFill>
                  <a:srgbClr val="79886C"/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rPr>
              <a:t>分享</a:t>
            </a:r>
            <a:endParaRPr lang="zh-CN" altLang="en-US" sz="3600" dirty="0">
              <a:solidFill>
                <a:srgbClr val="79886C"/>
              </a:solidFill>
              <a:latin typeface="书体坊郭小语钢笔楷体" panose="02010601030101010101" pitchFamily="2" charset="-122"/>
              <a:ea typeface="书体坊郭小语钢笔楷体" panose="02010601030101010101" pitchFamily="2" charset="-122"/>
            </a:endParaRPr>
          </a:p>
        </p:txBody>
      </p:sp>
      <p:cxnSp>
        <p:nvCxnSpPr>
          <p:cNvPr id="65" name="直接连接符 64"/>
          <p:cNvCxnSpPr/>
          <p:nvPr/>
        </p:nvCxnSpPr>
        <p:spPr>
          <a:xfrm>
            <a:off x="1528760" y="988647"/>
            <a:ext cx="10421941" cy="0"/>
          </a:xfrm>
          <a:prstGeom prst="line">
            <a:avLst/>
          </a:prstGeom>
          <a:ln>
            <a:solidFill>
              <a:srgbClr val="7988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061845" y="1511850"/>
            <a:ext cx="4064000" cy="460375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400">
                <a:latin typeface="+mn-ea"/>
              </a:rPr>
              <a:t>总体框图</a:t>
            </a:r>
            <a:endParaRPr lang="zh-CN" altLang="en-US" sz="240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839720" y="2169795"/>
            <a:ext cx="7597775" cy="3921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/>
          <p:cNvGrpSpPr/>
          <p:nvPr/>
        </p:nvGrpSpPr>
        <p:grpSpPr>
          <a:xfrm>
            <a:off x="1402279" y="271539"/>
            <a:ext cx="4421499" cy="1039053"/>
            <a:chOff x="627579" y="610573"/>
            <a:chExt cx="4421499" cy="1039053"/>
          </a:xfrm>
        </p:grpSpPr>
        <p:sp>
          <p:nvSpPr>
            <p:cNvPr id="47" name="矩形 46"/>
            <p:cNvSpPr/>
            <p:nvPr/>
          </p:nvSpPr>
          <p:spPr>
            <a:xfrm>
              <a:off x="627580" y="610573"/>
              <a:ext cx="4160320" cy="8704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600" dirty="0">
                  <a:solidFill>
                    <a:srgbClr val="79886C"/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代码</a:t>
              </a:r>
              <a:r>
                <a:rPr lang="zh-CN" altLang="en-US" sz="3600" dirty="0">
                  <a:solidFill>
                    <a:srgbClr val="79886C"/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分享</a:t>
              </a:r>
              <a:endParaRPr lang="zh-CN" altLang="en-US" sz="3600" dirty="0">
                <a:solidFill>
                  <a:srgbClr val="79886C"/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627579" y="1327681"/>
              <a:ext cx="4421499" cy="321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endPara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49" name="直接连接符 48"/>
          <p:cNvCxnSpPr/>
          <p:nvPr/>
        </p:nvCxnSpPr>
        <p:spPr>
          <a:xfrm>
            <a:off x="1528760" y="988647"/>
            <a:ext cx="10421941" cy="0"/>
          </a:xfrm>
          <a:prstGeom prst="line">
            <a:avLst/>
          </a:prstGeom>
          <a:ln>
            <a:solidFill>
              <a:srgbClr val="7988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402080" y="988695"/>
            <a:ext cx="34899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dirty="0">
                <a:sym typeface="+mn-ea"/>
              </a:rPr>
              <a:t>设置全局变量及结构体</a:t>
            </a:r>
            <a:endParaRPr lang="zh-CN" altLang="en-US" sz="2400" dirty="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892040" y="1209675"/>
            <a:ext cx="4629150" cy="52749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/>
          <p:cNvGrpSpPr/>
          <p:nvPr/>
        </p:nvGrpSpPr>
        <p:grpSpPr>
          <a:xfrm>
            <a:off x="1402279" y="271539"/>
            <a:ext cx="4421499" cy="1039053"/>
            <a:chOff x="627579" y="610573"/>
            <a:chExt cx="4421499" cy="1039053"/>
          </a:xfrm>
        </p:grpSpPr>
        <p:sp>
          <p:nvSpPr>
            <p:cNvPr id="47" name="矩形 46"/>
            <p:cNvSpPr/>
            <p:nvPr/>
          </p:nvSpPr>
          <p:spPr>
            <a:xfrm>
              <a:off x="627580" y="610573"/>
              <a:ext cx="4160320" cy="8704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600" dirty="0">
                  <a:solidFill>
                    <a:srgbClr val="79886C"/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代码</a:t>
              </a:r>
              <a:r>
                <a:rPr lang="zh-CN" altLang="en-US" sz="3600" dirty="0">
                  <a:solidFill>
                    <a:srgbClr val="79886C"/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分享</a:t>
              </a:r>
              <a:endParaRPr lang="zh-CN" altLang="en-US" sz="3600" dirty="0">
                <a:solidFill>
                  <a:srgbClr val="79886C"/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627579" y="1327681"/>
              <a:ext cx="4421499" cy="321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endPara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49" name="直接连接符 48"/>
          <p:cNvCxnSpPr/>
          <p:nvPr/>
        </p:nvCxnSpPr>
        <p:spPr>
          <a:xfrm>
            <a:off x="1528760" y="988647"/>
            <a:ext cx="10421941" cy="0"/>
          </a:xfrm>
          <a:prstGeom prst="line">
            <a:avLst/>
          </a:prstGeom>
          <a:ln>
            <a:solidFill>
              <a:srgbClr val="7988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528445" y="988695"/>
            <a:ext cx="251523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dirty="0">
                <a:sym typeface="+mn-ea"/>
              </a:rPr>
              <a:t>主函数</a:t>
            </a:r>
            <a:endParaRPr lang="zh-CN" altLang="en-US" sz="3200" dirty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973705" y="1064260"/>
            <a:ext cx="8111490" cy="5702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/>
          <p:cNvGrpSpPr/>
          <p:nvPr/>
        </p:nvGrpSpPr>
        <p:grpSpPr>
          <a:xfrm>
            <a:off x="1402279" y="271539"/>
            <a:ext cx="4421499" cy="1039053"/>
            <a:chOff x="627579" y="610573"/>
            <a:chExt cx="4421499" cy="1039053"/>
          </a:xfrm>
        </p:grpSpPr>
        <p:sp>
          <p:nvSpPr>
            <p:cNvPr id="47" name="矩形 46"/>
            <p:cNvSpPr/>
            <p:nvPr/>
          </p:nvSpPr>
          <p:spPr>
            <a:xfrm>
              <a:off x="627580" y="610573"/>
              <a:ext cx="4160320" cy="8704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600" dirty="0">
                  <a:solidFill>
                    <a:srgbClr val="79886C"/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代码</a:t>
              </a:r>
              <a:r>
                <a:rPr lang="zh-CN" altLang="en-US" sz="3600" dirty="0">
                  <a:solidFill>
                    <a:srgbClr val="79886C"/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分享</a:t>
              </a:r>
              <a:endParaRPr lang="zh-CN" altLang="en-US" sz="3600" dirty="0">
                <a:solidFill>
                  <a:srgbClr val="79886C"/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627579" y="1327681"/>
              <a:ext cx="4421499" cy="321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endPara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49" name="直接连接符 48"/>
          <p:cNvCxnSpPr/>
          <p:nvPr/>
        </p:nvCxnSpPr>
        <p:spPr>
          <a:xfrm>
            <a:off x="1528760" y="988647"/>
            <a:ext cx="10421941" cy="0"/>
          </a:xfrm>
          <a:prstGeom prst="line">
            <a:avLst/>
          </a:prstGeom>
          <a:ln>
            <a:solidFill>
              <a:srgbClr val="7988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528445" y="13106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/>
              <a:t>打印位图文件头和位图信息头</a:t>
            </a:r>
            <a:endParaRPr lang="zh-CN" altLang="en-US" sz="320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030730" y="2212975"/>
            <a:ext cx="8801100" cy="38696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/>
          <p:cNvGrpSpPr/>
          <p:nvPr/>
        </p:nvGrpSpPr>
        <p:grpSpPr>
          <a:xfrm>
            <a:off x="1402279" y="271539"/>
            <a:ext cx="4421499" cy="1039053"/>
            <a:chOff x="627579" y="610573"/>
            <a:chExt cx="4421499" cy="1039053"/>
          </a:xfrm>
        </p:grpSpPr>
        <p:sp>
          <p:nvSpPr>
            <p:cNvPr id="47" name="矩形 46"/>
            <p:cNvSpPr/>
            <p:nvPr/>
          </p:nvSpPr>
          <p:spPr>
            <a:xfrm>
              <a:off x="627580" y="610573"/>
              <a:ext cx="4160320" cy="8704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600" dirty="0">
                  <a:solidFill>
                    <a:srgbClr val="79886C"/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代码</a:t>
              </a:r>
              <a:r>
                <a:rPr lang="zh-CN" altLang="en-US" sz="3600" dirty="0">
                  <a:solidFill>
                    <a:srgbClr val="79886C"/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分享</a:t>
              </a:r>
              <a:endParaRPr lang="zh-CN" altLang="en-US" sz="3600" dirty="0">
                <a:solidFill>
                  <a:srgbClr val="79886C"/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627579" y="1327681"/>
              <a:ext cx="4421499" cy="321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endPara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49" name="直接连接符 48"/>
          <p:cNvCxnSpPr/>
          <p:nvPr/>
        </p:nvCxnSpPr>
        <p:spPr>
          <a:xfrm>
            <a:off x="1528760" y="988647"/>
            <a:ext cx="10421941" cy="0"/>
          </a:xfrm>
          <a:prstGeom prst="line">
            <a:avLst/>
          </a:prstGeom>
          <a:ln>
            <a:solidFill>
              <a:srgbClr val="7988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910080" y="1610995"/>
            <a:ext cx="9436100" cy="493458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402080" y="1141730"/>
            <a:ext cx="72351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从位图文件中读取数据并存储在RGB_QUAD类型的二维数组中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/>
          <p:cNvGrpSpPr/>
          <p:nvPr/>
        </p:nvGrpSpPr>
        <p:grpSpPr>
          <a:xfrm>
            <a:off x="1402279" y="271539"/>
            <a:ext cx="4421499" cy="1039053"/>
            <a:chOff x="627579" y="610573"/>
            <a:chExt cx="4421499" cy="1039053"/>
          </a:xfrm>
        </p:grpSpPr>
        <p:sp>
          <p:nvSpPr>
            <p:cNvPr id="47" name="矩形 46"/>
            <p:cNvSpPr/>
            <p:nvPr/>
          </p:nvSpPr>
          <p:spPr>
            <a:xfrm>
              <a:off x="627580" y="610573"/>
              <a:ext cx="4160320" cy="8704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600" dirty="0">
                  <a:solidFill>
                    <a:srgbClr val="79886C"/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代码</a:t>
              </a:r>
              <a:r>
                <a:rPr lang="zh-CN" altLang="en-US" sz="3600" dirty="0">
                  <a:solidFill>
                    <a:srgbClr val="79886C"/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分享</a:t>
              </a:r>
              <a:endParaRPr lang="zh-CN" altLang="en-US" sz="3600" dirty="0">
                <a:solidFill>
                  <a:srgbClr val="79886C"/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627579" y="1327681"/>
              <a:ext cx="4421499" cy="321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endPara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49" name="直接连接符 48"/>
          <p:cNvCxnSpPr/>
          <p:nvPr/>
        </p:nvCxnSpPr>
        <p:spPr>
          <a:xfrm>
            <a:off x="1528760" y="988647"/>
            <a:ext cx="10421941" cy="0"/>
          </a:xfrm>
          <a:prstGeom prst="line">
            <a:avLst/>
          </a:prstGeom>
          <a:ln>
            <a:solidFill>
              <a:srgbClr val="7988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95780" y="1141730"/>
            <a:ext cx="8818880" cy="53263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/>
          <p:cNvGrpSpPr/>
          <p:nvPr/>
        </p:nvGrpSpPr>
        <p:grpSpPr>
          <a:xfrm>
            <a:off x="1402279" y="271539"/>
            <a:ext cx="4421499" cy="1039053"/>
            <a:chOff x="627579" y="610573"/>
            <a:chExt cx="4421499" cy="1039053"/>
          </a:xfrm>
        </p:grpSpPr>
        <p:sp>
          <p:nvSpPr>
            <p:cNvPr id="47" name="矩形 46"/>
            <p:cNvSpPr/>
            <p:nvPr/>
          </p:nvSpPr>
          <p:spPr>
            <a:xfrm>
              <a:off x="627580" y="610573"/>
              <a:ext cx="4160320" cy="8704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600" dirty="0">
                  <a:solidFill>
                    <a:srgbClr val="79886C"/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代码</a:t>
              </a:r>
              <a:r>
                <a:rPr lang="zh-CN" altLang="en-US" sz="3600" dirty="0">
                  <a:solidFill>
                    <a:srgbClr val="79886C"/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分享</a:t>
              </a:r>
              <a:endParaRPr lang="zh-CN" altLang="en-US" sz="3600" dirty="0">
                <a:solidFill>
                  <a:srgbClr val="79886C"/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627579" y="1327681"/>
              <a:ext cx="4421499" cy="321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endPara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49" name="直接连接符 48"/>
          <p:cNvCxnSpPr/>
          <p:nvPr/>
        </p:nvCxnSpPr>
        <p:spPr>
          <a:xfrm>
            <a:off x="1528760" y="988647"/>
            <a:ext cx="10421941" cy="0"/>
          </a:xfrm>
          <a:prstGeom prst="line">
            <a:avLst/>
          </a:prstGeom>
          <a:ln>
            <a:solidFill>
              <a:srgbClr val="7988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806575" y="1199515"/>
            <a:ext cx="8982075" cy="5409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/>
          <p:cNvGrpSpPr/>
          <p:nvPr/>
        </p:nvGrpSpPr>
        <p:grpSpPr>
          <a:xfrm>
            <a:off x="1402279" y="271539"/>
            <a:ext cx="4421499" cy="1039053"/>
            <a:chOff x="627579" y="610573"/>
            <a:chExt cx="4421499" cy="1039053"/>
          </a:xfrm>
        </p:grpSpPr>
        <p:sp>
          <p:nvSpPr>
            <p:cNvPr id="47" name="矩形 46"/>
            <p:cNvSpPr/>
            <p:nvPr/>
          </p:nvSpPr>
          <p:spPr>
            <a:xfrm>
              <a:off x="627580" y="610573"/>
              <a:ext cx="4160320" cy="8704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600" dirty="0">
                  <a:solidFill>
                    <a:srgbClr val="79886C"/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代码</a:t>
              </a:r>
              <a:r>
                <a:rPr lang="zh-CN" altLang="en-US" sz="3600" dirty="0">
                  <a:solidFill>
                    <a:srgbClr val="79886C"/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分享</a:t>
              </a:r>
              <a:endParaRPr lang="zh-CN" altLang="en-US" sz="3600" dirty="0">
                <a:solidFill>
                  <a:srgbClr val="79886C"/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627579" y="1327681"/>
              <a:ext cx="4421499" cy="321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endPara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49" name="直接连接符 48"/>
          <p:cNvCxnSpPr/>
          <p:nvPr/>
        </p:nvCxnSpPr>
        <p:spPr>
          <a:xfrm>
            <a:off x="1528760" y="988647"/>
            <a:ext cx="10421941" cy="0"/>
          </a:xfrm>
          <a:prstGeom prst="line">
            <a:avLst/>
          </a:prstGeom>
          <a:ln>
            <a:solidFill>
              <a:srgbClr val="7988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528445" y="106489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/>
              <a:t>将位图数据写入到指定的位图文件中</a:t>
            </a:r>
            <a:endParaRPr lang="zh-CN" altLang="en-US" sz="280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71650" y="1607185"/>
            <a:ext cx="8964930" cy="515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/>
          <p:cNvGrpSpPr/>
          <p:nvPr/>
        </p:nvGrpSpPr>
        <p:grpSpPr>
          <a:xfrm>
            <a:off x="1402279" y="271539"/>
            <a:ext cx="4421499" cy="1039053"/>
            <a:chOff x="627579" y="610573"/>
            <a:chExt cx="4421499" cy="1039053"/>
          </a:xfrm>
        </p:grpSpPr>
        <p:sp>
          <p:nvSpPr>
            <p:cNvPr id="47" name="矩形 46"/>
            <p:cNvSpPr/>
            <p:nvPr/>
          </p:nvSpPr>
          <p:spPr>
            <a:xfrm>
              <a:off x="627580" y="610573"/>
              <a:ext cx="4160320" cy="8704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600" dirty="0">
                  <a:solidFill>
                    <a:srgbClr val="79886C"/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代码</a:t>
              </a:r>
              <a:r>
                <a:rPr lang="zh-CN" altLang="en-US" sz="3600" dirty="0">
                  <a:solidFill>
                    <a:srgbClr val="79886C"/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分享</a:t>
              </a:r>
              <a:endParaRPr lang="zh-CN" altLang="en-US" sz="3600" dirty="0">
                <a:solidFill>
                  <a:srgbClr val="79886C"/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627579" y="1327681"/>
              <a:ext cx="4421499" cy="321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endPara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49" name="直接连接符 48"/>
          <p:cNvCxnSpPr/>
          <p:nvPr/>
        </p:nvCxnSpPr>
        <p:spPr>
          <a:xfrm>
            <a:off x="1528760" y="988647"/>
            <a:ext cx="10421941" cy="0"/>
          </a:xfrm>
          <a:prstGeom prst="line">
            <a:avLst/>
          </a:prstGeom>
          <a:ln>
            <a:solidFill>
              <a:srgbClr val="7988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072640" y="1537335"/>
            <a:ext cx="8046720" cy="5196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/>
          <p:cNvGrpSpPr/>
          <p:nvPr/>
        </p:nvGrpSpPr>
        <p:grpSpPr>
          <a:xfrm>
            <a:off x="1402279" y="271539"/>
            <a:ext cx="4421499" cy="1039053"/>
            <a:chOff x="627579" y="610573"/>
            <a:chExt cx="4421499" cy="1039053"/>
          </a:xfrm>
        </p:grpSpPr>
        <p:sp>
          <p:nvSpPr>
            <p:cNvPr id="47" name="矩形 46"/>
            <p:cNvSpPr/>
            <p:nvPr/>
          </p:nvSpPr>
          <p:spPr>
            <a:xfrm>
              <a:off x="627580" y="610573"/>
              <a:ext cx="4160320" cy="8704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600" dirty="0">
                  <a:solidFill>
                    <a:srgbClr val="79886C"/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代码</a:t>
              </a:r>
              <a:r>
                <a:rPr lang="zh-CN" altLang="en-US" sz="3600" dirty="0">
                  <a:solidFill>
                    <a:srgbClr val="79886C"/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分享</a:t>
              </a:r>
              <a:endParaRPr lang="zh-CN" altLang="en-US" sz="3600" dirty="0">
                <a:solidFill>
                  <a:srgbClr val="79886C"/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627579" y="1327681"/>
              <a:ext cx="4421499" cy="321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endPara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49" name="直接连接符 48"/>
          <p:cNvCxnSpPr/>
          <p:nvPr/>
        </p:nvCxnSpPr>
        <p:spPr>
          <a:xfrm>
            <a:off x="1528760" y="988647"/>
            <a:ext cx="10421941" cy="0"/>
          </a:xfrm>
          <a:prstGeom prst="line">
            <a:avLst/>
          </a:prstGeom>
          <a:ln>
            <a:solidFill>
              <a:srgbClr val="7988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482215" y="1141730"/>
            <a:ext cx="8515350" cy="5542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/>
          <p:cNvGrpSpPr/>
          <p:nvPr/>
        </p:nvGrpSpPr>
        <p:grpSpPr>
          <a:xfrm>
            <a:off x="1402279" y="271539"/>
            <a:ext cx="4421499" cy="1039053"/>
            <a:chOff x="627579" y="610573"/>
            <a:chExt cx="4421499" cy="1039053"/>
          </a:xfrm>
        </p:grpSpPr>
        <p:sp>
          <p:nvSpPr>
            <p:cNvPr id="47" name="矩形 46"/>
            <p:cNvSpPr/>
            <p:nvPr/>
          </p:nvSpPr>
          <p:spPr>
            <a:xfrm>
              <a:off x="627580" y="610573"/>
              <a:ext cx="4160320" cy="8704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600" dirty="0">
                  <a:solidFill>
                    <a:srgbClr val="79886C"/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代码</a:t>
              </a:r>
              <a:r>
                <a:rPr lang="zh-CN" altLang="en-US" sz="3600" dirty="0">
                  <a:solidFill>
                    <a:srgbClr val="79886C"/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分享</a:t>
              </a:r>
              <a:endParaRPr lang="zh-CN" altLang="en-US" sz="3600" dirty="0">
                <a:solidFill>
                  <a:srgbClr val="79886C"/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627579" y="1327681"/>
              <a:ext cx="4421499" cy="321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endPara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49" name="直接连接符 48"/>
          <p:cNvCxnSpPr/>
          <p:nvPr/>
        </p:nvCxnSpPr>
        <p:spPr>
          <a:xfrm>
            <a:off x="1528760" y="988647"/>
            <a:ext cx="10421941" cy="0"/>
          </a:xfrm>
          <a:prstGeom prst="line">
            <a:avLst/>
          </a:prstGeom>
          <a:ln>
            <a:solidFill>
              <a:srgbClr val="7988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654810" y="988695"/>
            <a:ext cx="87134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/>
              <a:t>将整数类型的数据转换为字节数组，并存储到指定的数组中</a:t>
            </a:r>
            <a:endParaRPr lang="zh-CN" altLang="en-US" sz="240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819275" y="1811020"/>
            <a:ext cx="9171940" cy="41027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/>
          <p:cNvGrpSpPr/>
          <p:nvPr/>
        </p:nvGrpSpPr>
        <p:grpSpPr>
          <a:xfrm>
            <a:off x="1402279" y="271539"/>
            <a:ext cx="4421499" cy="1039053"/>
            <a:chOff x="627579" y="610573"/>
            <a:chExt cx="4421499" cy="1039053"/>
          </a:xfrm>
        </p:grpSpPr>
        <p:sp>
          <p:nvSpPr>
            <p:cNvPr id="47" name="矩形 46"/>
            <p:cNvSpPr/>
            <p:nvPr/>
          </p:nvSpPr>
          <p:spPr>
            <a:xfrm>
              <a:off x="627580" y="610573"/>
              <a:ext cx="4160320" cy="8704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600" dirty="0">
                  <a:solidFill>
                    <a:srgbClr val="79886C"/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代码</a:t>
              </a:r>
              <a:r>
                <a:rPr lang="zh-CN" altLang="en-US" sz="3600" dirty="0">
                  <a:solidFill>
                    <a:srgbClr val="79886C"/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分享</a:t>
              </a:r>
              <a:endParaRPr lang="zh-CN" altLang="en-US" sz="3600" dirty="0">
                <a:solidFill>
                  <a:srgbClr val="79886C"/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627579" y="1327681"/>
              <a:ext cx="4421499" cy="321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endPara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49" name="直接连接符 48"/>
          <p:cNvCxnSpPr/>
          <p:nvPr/>
        </p:nvCxnSpPr>
        <p:spPr>
          <a:xfrm>
            <a:off x="1528760" y="988647"/>
            <a:ext cx="10421941" cy="0"/>
          </a:xfrm>
          <a:prstGeom prst="line">
            <a:avLst/>
          </a:prstGeom>
          <a:ln>
            <a:solidFill>
              <a:srgbClr val="7988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088640" y="1823720"/>
            <a:ext cx="7606030" cy="39681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94485" y="988695"/>
            <a:ext cx="794639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/>
              <a:t>用于将字节数组中的数据转换为整数类型的数据</a:t>
            </a:r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/>
          <p:cNvGrpSpPr/>
          <p:nvPr/>
        </p:nvGrpSpPr>
        <p:grpSpPr>
          <a:xfrm>
            <a:off x="1402279" y="271539"/>
            <a:ext cx="4421499" cy="1039053"/>
            <a:chOff x="627579" y="610573"/>
            <a:chExt cx="4421499" cy="1039053"/>
          </a:xfrm>
        </p:grpSpPr>
        <p:sp>
          <p:nvSpPr>
            <p:cNvPr id="47" name="矩形 46"/>
            <p:cNvSpPr/>
            <p:nvPr/>
          </p:nvSpPr>
          <p:spPr>
            <a:xfrm>
              <a:off x="627580" y="610573"/>
              <a:ext cx="4160320" cy="8704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600" dirty="0">
                  <a:solidFill>
                    <a:srgbClr val="79886C"/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代码</a:t>
              </a:r>
              <a:r>
                <a:rPr lang="zh-CN" altLang="en-US" sz="3600" dirty="0">
                  <a:solidFill>
                    <a:srgbClr val="79886C"/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分享</a:t>
              </a:r>
              <a:endParaRPr lang="zh-CN" altLang="en-US" sz="3600" dirty="0">
                <a:solidFill>
                  <a:srgbClr val="79886C"/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627579" y="1327681"/>
              <a:ext cx="4421499" cy="321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endPara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49" name="直接连接符 48"/>
          <p:cNvCxnSpPr/>
          <p:nvPr/>
        </p:nvCxnSpPr>
        <p:spPr>
          <a:xfrm>
            <a:off x="1528760" y="988647"/>
            <a:ext cx="10421941" cy="0"/>
          </a:xfrm>
          <a:prstGeom prst="line">
            <a:avLst/>
          </a:prstGeom>
          <a:ln>
            <a:solidFill>
              <a:srgbClr val="7988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屏幕截图 2023-11-28 2332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141345" y="1604645"/>
            <a:ext cx="7685405" cy="46729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694815" y="10750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BmpRotate</a:t>
            </a:r>
            <a:r>
              <a:rPr lang="zh-CN" altLang="en-US">
                <a:sym typeface="+mn-ea"/>
              </a:rPr>
              <a:t>函数，对位图旋转操作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/>
          <p:cNvGrpSpPr/>
          <p:nvPr/>
        </p:nvGrpSpPr>
        <p:grpSpPr>
          <a:xfrm>
            <a:off x="1402279" y="271539"/>
            <a:ext cx="4421499" cy="1039053"/>
            <a:chOff x="627579" y="610573"/>
            <a:chExt cx="4421499" cy="1039053"/>
          </a:xfrm>
        </p:grpSpPr>
        <p:sp>
          <p:nvSpPr>
            <p:cNvPr id="47" name="矩形 46"/>
            <p:cNvSpPr/>
            <p:nvPr/>
          </p:nvSpPr>
          <p:spPr>
            <a:xfrm>
              <a:off x="627580" y="610573"/>
              <a:ext cx="4160320" cy="8704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600" dirty="0">
                  <a:solidFill>
                    <a:srgbClr val="79886C"/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代码</a:t>
              </a:r>
              <a:r>
                <a:rPr lang="zh-CN" altLang="en-US" sz="3600" dirty="0">
                  <a:solidFill>
                    <a:srgbClr val="79886C"/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分享</a:t>
              </a:r>
              <a:endParaRPr lang="zh-CN" altLang="en-US" sz="3600" dirty="0">
                <a:solidFill>
                  <a:srgbClr val="79886C"/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627579" y="1327681"/>
              <a:ext cx="4421499" cy="321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endPara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49" name="直接连接符 48"/>
          <p:cNvCxnSpPr/>
          <p:nvPr/>
        </p:nvCxnSpPr>
        <p:spPr>
          <a:xfrm>
            <a:off x="1528760" y="988647"/>
            <a:ext cx="10421941" cy="0"/>
          </a:xfrm>
          <a:prstGeom prst="line">
            <a:avLst/>
          </a:prstGeom>
          <a:ln>
            <a:solidFill>
              <a:srgbClr val="7988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屏幕截图 2023-11-28 2332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88795" y="2098040"/>
            <a:ext cx="8486140" cy="41281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189470" y="1659255"/>
            <a:ext cx="352488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angle</a:t>
            </a:r>
            <a:r>
              <a:rPr lang="zh-CN" altLang="en-US">
                <a:sym typeface="+mn-ea"/>
              </a:rPr>
              <a:t>函数表示旋转角度，新定义exBitmapFileHeader和exBitmapInfoHeader变量，根据旋转角度调整位图信息头的宽度和高度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/>
          <p:cNvGrpSpPr/>
          <p:nvPr/>
        </p:nvGrpSpPr>
        <p:grpSpPr>
          <a:xfrm>
            <a:off x="1402279" y="271539"/>
            <a:ext cx="4421499" cy="1039053"/>
            <a:chOff x="627579" y="610573"/>
            <a:chExt cx="4421499" cy="1039053"/>
          </a:xfrm>
        </p:grpSpPr>
        <p:sp>
          <p:nvSpPr>
            <p:cNvPr id="47" name="矩形 46"/>
            <p:cNvSpPr/>
            <p:nvPr/>
          </p:nvSpPr>
          <p:spPr>
            <a:xfrm>
              <a:off x="627580" y="610573"/>
              <a:ext cx="4160320" cy="8704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600" dirty="0">
                  <a:solidFill>
                    <a:srgbClr val="79886C"/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代码</a:t>
              </a:r>
              <a:r>
                <a:rPr lang="zh-CN" altLang="en-US" sz="3600" dirty="0">
                  <a:solidFill>
                    <a:srgbClr val="79886C"/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分享</a:t>
              </a:r>
              <a:endParaRPr lang="zh-CN" altLang="en-US" sz="3600" dirty="0">
                <a:solidFill>
                  <a:srgbClr val="79886C"/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627579" y="1327681"/>
              <a:ext cx="4421499" cy="321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endPara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49" name="直接连接符 48"/>
          <p:cNvCxnSpPr/>
          <p:nvPr/>
        </p:nvCxnSpPr>
        <p:spPr>
          <a:xfrm>
            <a:off x="1528760" y="988647"/>
            <a:ext cx="10421941" cy="0"/>
          </a:xfrm>
          <a:prstGeom prst="line">
            <a:avLst/>
          </a:prstGeom>
          <a:ln>
            <a:solidFill>
              <a:srgbClr val="7988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屏幕截图 2023-11-28 2332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833880" y="1569085"/>
            <a:ext cx="6525895" cy="46691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555865" y="1310640"/>
            <a:ext cx="390715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initRect</a:t>
            </a:r>
            <a:r>
              <a:rPr lang="zh-CN" altLang="en-US">
                <a:sym typeface="+mn-ea"/>
              </a:rPr>
              <a:t>函数表示初始像素矩阵的二维数组</a:t>
            </a:r>
            <a:endParaRPr lang="zh-CN" altLang="en-US"/>
          </a:p>
          <a:p>
            <a:r>
              <a:rPr lang="en-US" altLang="zh-CN">
                <a:sym typeface="+mn-ea"/>
              </a:rPr>
              <a:t>exRect</a:t>
            </a:r>
            <a:r>
              <a:rPr lang="zh-CN" altLang="en-US">
                <a:sym typeface="+mn-ea"/>
              </a:rPr>
              <a:t>储存旋转后的像素矩阵，最后返回像素矩阵</a:t>
            </a:r>
            <a:r>
              <a:rPr lang="en-US" altLang="zh-CN">
                <a:sym typeface="+mn-ea"/>
              </a:rPr>
              <a:t>exRect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592347" y="1653125"/>
            <a:ext cx="3719665" cy="34501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9900" b="1" dirty="0">
                <a:solidFill>
                  <a:srgbClr val="79886C"/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rPr>
              <a:t>03</a:t>
            </a:r>
            <a:endParaRPr lang="zh-CN" altLang="en-US" sz="19900" b="1" dirty="0">
              <a:solidFill>
                <a:srgbClr val="79886C"/>
              </a:solidFill>
              <a:latin typeface="书体坊郭小语钢笔楷体" panose="02010601030101010101" pitchFamily="2" charset="-122"/>
              <a:ea typeface="书体坊郭小语钢笔楷体" panose="02010601030101010101" pitchFamily="2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428124" y="2718954"/>
            <a:ext cx="4022035" cy="1602555"/>
            <a:chOff x="6096000" y="3616932"/>
            <a:chExt cx="4022035" cy="1602555"/>
          </a:xfrm>
        </p:grpSpPr>
        <p:sp>
          <p:nvSpPr>
            <p:cNvPr id="11" name="文本框 10"/>
            <p:cNvSpPr txBox="1"/>
            <p:nvPr/>
          </p:nvSpPr>
          <p:spPr>
            <a:xfrm>
              <a:off x="6096000" y="3616932"/>
              <a:ext cx="2625477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结果</a:t>
              </a:r>
              <a:r>
                <a:rPr lang="zh-CN" altLang="en-US" sz="3200" dirty="0"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展示</a:t>
              </a:r>
              <a:endParaRPr lang="zh-CN" altLang="en-US" sz="3200" dirty="0">
                <a:latin typeface="书体坊郭小语钢笔楷体" panose="02010601030101010101" pitchFamily="2" charset="-122"/>
                <a:ea typeface="书体坊郭小语钢笔楷体" panose="02010601030101010101" pitchFamily="2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096000" y="4201707"/>
              <a:ext cx="3390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Click on the input subtitle</a:t>
              </a: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6096000" y="4601817"/>
              <a:ext cx="4022035" cy="617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200" dirty="0"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Click here to add text Click here to add text Click here to add text Click here to add text Click here to add text</a:t>
              </a:r>
              <a:endParaRPr lang="zh-CN" altLang="en-US" sz="1200" dirty="0">
                <a:latin typeface="书体坊郭小语钢笔楷体" panose="02010601030101010101" pitchFamily="2" charset="-122"/>
                <a:ea typeface="书体坊郭小语钢笔楷体" panose="02010601030101010101" pitchFamily="2" charset="-122"/>
              </a:endParaRPr>
            </a:p>
          </p:txBody>
        </p:sp>
      </p:grpSp>
      <p:cxnSp>
        <p:nvCxnSpPr>
          <p:cNvPr id="14" name="直接连接符 13"/>
          <p:cNvCxnSpPr/>
          <p:nvPr/>
        </p:nvCxnSpPr>
        <p:spPr>
          <a:xfrm>
            <a:off x="5428124" y="3303729"/>
            <a:ext cx="5695260" cy="0"/>
          </a:xfrm>
          <a:prstGeom prst="line">
            <a:avLst/>
          </a:prstGeom>
          <a:ln>
            <a:solidFill>
              <a:srgbClr val="7988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>
            <a:off x="1402279" y="271539"/>
            <a:ext cx="4421499" cy="1039053"/>
            <a:chOff x="627579" y="610573"/>
            <a:chExt cx="4421499" cy="1039053"/>
          </a:xfrm>
        </p:grpSpPr>
        <p:sp>
          <p:nvSpPr>
            <p:cNvPr id="40" name="矩形 39"/>
            <p:cNvSpPr/>
            <p:nvPr/>
          </p:nvSpPr>
          <p:spPr>
            <a:xfrm>
              <a:off x="627580" y="610573"/>
              <a:ext cx="4160320" cy="8704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600" dirty="0">
                  <a:solidFill>
                    <a:srgbClr val="79886C"/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结果</a:t>
              </a:r>
              <a:r>
                <a:rPr lang="zh-CN" altLang="en-US" sz="3600" dirty="0">
                  <a:solidFill>
                    <a:srgbClr val="79886C"/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展示</a:t>
              </a:r>
              <a:endParaRPr lang="zh-CN" altLang="en-US" sz="3600" dirty="0">
                <a:solidFill>
                  <a:srgbClr val="79886C"/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627579" y="1327681"/>
              <a:ext cx="4421499" cy="321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endPara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42" name="直接连接符 41"/>
          <p:cNvCxnSpPr/>
          <p:nvPr/>
        </p:nvCxnSpPr>
        <p:spPr>
          <a:xfrm>
            <a:off x="1528760" y="988647"/>
            <a:ext cx="10421941" cy="0"/>
          </a:xfrm>
          <a:prstGeom prst="line">
            <a:avLst/>
          </a:prstGeom>
          <a:ln>
            <a:solidFill>
              <a:srgbClr val="7988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050" y="1310640"/>
            <a:ext cx="8007985" cy="498983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0800" y="1310640"/>
            <a:ext cx="2800350" cy="4908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9" name="组合 38"/>
          <p:cNvGrpSpPr/>
          <p:nvPr/>
        </p:nvGrpSpPr>
        <p:grpSpPr>
          <a:xfrm>
            <a:off x="1402279" y="271539"/>
            <a:ext cx="4421499" cy="1039053"/>
            <a:chOff x="627579" y="610573"/>
            <a:chExt cx="4421499" cy="1039053"/>
          </a:xfrm>
        </p:grpSpPr>
        <p:sp>
          <p:nvSpPr>
            <p:cNvPr id="40" name="矩形 39"/>
            <p:cNvSpPr/>
            <p:nvPr>
              <p:custDataLst>
                <p:tags r:id="rId1"/>
              </p:custDataLst>
            </p:nvPr>
          </p:nvSpPr>
          <p:spPr>
            <a:xfrm>
              <a:off x="627580" y="610573"/>
              <a:ext cx="4160320" cy="8704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r>
                <a:rPr lang="zh-CN" altLang="en-US" sz="3600" dirty="0">
                  <a:solidFill>
                    <a:srgbClr val="79886C"/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结果</a:t>
              </a:r>
              <a:r>
                <a:rPr lang="zh-CN" altLang="en-US" sz="3600" dirty="0">
                  <a:solidFill>
                    <a:srgbClr val="79886C"/>
                  </a:solidFill>
                  <a:latin typeface="书体坊郭小语钢笔楷体" panose="02010601030101010101" pitchFamily="2" charset="-122"/>
                  <a:ea typeface="书体坊郭小语钢笔楷体" panose="02010601030101010101" pitchFamily="2" charset="-122"/>
                </a:rPr>
                <a:t>展示</a:t>
              </a:r>
              <a:endParaRPr lang="zh-CN" altLang="en-US" sz="3600" dirty="0">
                <a:solidFill>
                  <a:srgbClr val="79886C"/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endParaRPr>
            </a:p>
          </p:txBody>
        </p:sp>
        <p:sp>
          <p:nvSpPr>
            <p:cNvPr id="41" name="文本框 40"/>
            <p:cNvSpPr txBox="1"/>
            <p:nvPr>
              <p:custDataLst>
                <p:tags r:id="rId2"/>
              </p:custDataLst>
            </p:nvPr>
          </p:nvSpPr>
          <p:spPr>
            <a:xfrm>
              <a:off x="627579" y="1327681"/>
              <a:ext cx="4421499" cy="321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>
                <a:lnSpc>
                  <a:spcPct val="150000"/>
                </a:lnSpc>
              </a:pPr>
              <a:endPara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42" name="直接连接符 41"/>
          <p:cNvCxnSpPr/>
          <p:nvPr>
            <p:custDataLst>
              <p:tags r:id="rId3"/>
            </p:custDataLst>
          </p:nvPr>
        </p:nvCxnSpPr>
        <p:spPr>
          <a:xfrm>
            <a:off x="1528760" y="988647"/>
            <a:ext cx="10421941" cy="0"/>
          </a:xfrm>
          <a:prstGeom prst="line">
            <a:avLst/>
          </a:prstGeom>
          <a:ln>
            <a:solidFill>
              <a:srgbClr val="7988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10640"/>
            <a:ext cx="8049895" cy="48920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2045" y="1311275"/>
            <a:ext cx="2780665" cy="48914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000">
        <p:random/>
      </p:transition>
    </mc:Choice>
    <mc:Fallback>
      <p:transition spd="slow" advTm="4000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460932" y="2675389"/>
            <a:ext cx="88195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5108575" algn="l"/>
              </a:tabLst>
            </a:pPr>
            <a:r>
              <a:rPr lang="en-US" altLang="zh-CN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rPr>
              <a:t>Thank you</a:t>
            </a:r>
            <a:endParaRPr lang="zh-CN" altLang="en-US" sz="7200" dirty="0">
              <a:solidFill>
                <a:schemeClr val="tx1">
                  <a:lumMod val="75000"/>
                  <a:lumOff val="25000"/>
                </a:schemeClr>
              </a:solidFill>
              <a:latin typeface="书体坊郭小语钢笔楷体" panose="02010601030101010101" pitchFamily="2" charset="-122"/>
              <a:ea typeface="书体坊郭小语钢笔楷体" panose="02010601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83279" y="3936233"/>
            <a:ext cx="4374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5108575" algn="l"/>
              </a:tabLst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rPr>
              <a:t>谢</a:t>
            </a:r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rPr>
              <a:t>谢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书体坊郭小语钢笔楷体" panose="02010601030101010101" pitchFamily="2" charset="-122"/>
                <a:ea typeface="书体坊郭小语钢笔楷体" panose="02010601030101010101" pitchFamily="2" charset="-122"/>
              </a:rPr>
              <a:t>观看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书体坊郭小语钢笔楷体" panose="02010601030101010101" pitchFamily="2" charset="-122"/>
              <a:ea typeface="书体坊郭小语钢笔楷体" panose="02010601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ISPRING_PRESENTATION_TITLE" val="PowerPoint 演示文稿"/>
  <p:tag name="commondata" val="eyJoZGlkIjoiZmM5NzhjYjA3MmJmNDY1ZDI0ZTI2MjVlMDE1MjU1Nzc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1178</Words>
  <Application>WPS 演示</Application>
  <PresentationFormat>宽屏</PresentationFormat>
  <Paragraphs>113</Paragraphs>
  <Slides>26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9" baseType="lpstr">
      <vt:lpstr>Arial</vt:lpstr>
      <vt:lpstr>宋体</vt:lpstr>
      <vt:lpstr>Wingdings</vt:lpstr>
      <vt:lpstr>书体坊郭小语钢笔楷体</vt:lpstr>
      <vt:lpstr>MNgaiHK-Bold</vt:lpstr>
      <vt:lpstr>Yu Gothic</vt:lpstr>
      <vt:lpstr>微软雅黑</vt:lpstr>
      <vt:lpstr>Calibri</vt:lpstr>
      <vt:lpstr>Arial Unicode MS</vt:lpstr>
      <vt:lpstr>Cambria</vt:lpstr>
      <vt:lpstr>黑体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dc:description>http://www.ypppt.com/</dc:description>
  <cp:lastModifiedBy>他</cp:lastModifiedBy>
  <cp:revision>53</cp:revision>
  <dcterms:created xsi:type="dcterms:W3CDTF">2017-07-12T11:04:00Z</dcterms:created>
  <dcterms:modified xsi:type="dcterms:W3CDTF">2023-11-28T15:47:26Z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FA74ACD630FE4F74AB2AB56393E4369F_13</vt:lpwstr>
  </property>
  <property fmtid="{D5CDD505-2E9C-101B-9397-08002B2CF9AE}" pid="3" name="KSOProductBuildVer">
    <vt:lpwstr>2052-12.1.0.15712</vt:lpwstr>
  </property>
</Properties>
</file>